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2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5DA"/>
    <a:srgbClr val="6DD3EE"/>
    <a:srgbClr val="E37832"/>
    <a:srgbClr val="A2C4E2"/>
    <a:srgbClr val="F0B993"/>
    <a:srgbClr val="A7CF8C"/>
    <a:srgbClr val="6DA646"/>
    <a:srgbClr val="5593C9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33"/>
    <p:restoredTop sz="95728"/>
  </p:normalViewPr>
  <p:slideViewPr>
    <p:cSldViewPr snapToGrid="0">
      <p:cViewPr varScale="1">
        <p:scale>
          <a:sx n="14" d="100"/>
          <a:sy n="14" d="100"/>
        </p:scale>
        <p:origin x="17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>
            <a:extLst>
              <a:ext uri="{FF2B5EF4-FFF2-40B4-BE49-F238E27FC236}">
                <a16:creationId xmlns:a16="http://schemas.microsoft.com/office/drawing/2014/main" id="{E3E21358-3234-51CC-E430-F9FB35B09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2" y="4797483"/>
            <a:ext cx="2581185" cy="1720790"/>
          </a:xfrm>
          <a:prstGeom prst="rect">
            <a:avLst/>
          </a:prstGeom>
        </p:spPr>
      </p:pic>
      <p:grpSp>
        <p:nvGrpSpPr>
          <p:cNvPr id="1000" name="Editable text overlays for image1.png"/>
          <p:cNvGrpSpPr/>
          <p:nvPr/>
        </p:nvGrpSpPr>
        <p:grpSpPr>
          <a:xfrm>
            <a:off x="155032" y="4797483"/>
            <a:ext cx="2581185" cy="1720790"/>
            <a:chOff x="0" y="0"/>
            <a:chExt cx="2581185" cy="1720790"/>
          </a:xfrm>
        </p:grpSpPr>
        <p:sp>
          <p:nvSpPr>
            <p:cNvPr id="1001" name="Text background: Bile secretion"/>
            <p:cNvSpPr/>
            <p:nvPr/>
          </p:nvSpPr>
          <p:spPr>
            <a:xfrm>
              <a:off x="679984" y="57643"/>
              <a:ext cx="286005" cy="394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2" name="Editable text: Bile secretion"/>
            <p:cNvSpPr/>
            <p:nvPr/>
          </p:nvSpPr>
          <p:spPr>
            <a:xfrm>
              <a:off x="681855" y="54108"/>
              <a:ext cx="294353" cy="63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003" name="Text background: Cholesterol metabolism"/>
            <p:cNvSpPr/>
            <p:nvPr/>
          </p:nvSpPr>
          <p:spPr>
            <a:xfrm>
              <a:off x="465736" y="168168"/>
              <a:ext cx="500253" cy="411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4" name="Editable text: Cholesterol metabolism"/>
            <p:cNvSpPr/>
            <p:nvPr/>
          </p:nvSpPr>
          <p:spPr>
            <a:xfrm>
              <a:off x="467606" y="165050"/>
              <a:ext cx="506077" cy="6414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005" name="Text background: Steroid hormone biosynthesis"/>
            <p:cNvSpPr/>
            <p:nvPr/>
          </p:nvSpPr>
          <p:spPr>
            <a:xfrm>
              <a:off x="334806" y="278693"/>
              <a:ext cx="631183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6" name="Editable text: Steroid hormone biosynthesis"/>
            <p:cNvSpPr/>
            <p:nvPr/>
          </p:nvSpPr>
          <p:spPr>
            <a:xfrm>
              <a:off x="336676" y="275563"/>
              <a:ext cx="635944" cy="642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007" name="Text background: Serotonin receptor agonists/antagonists"/>
            <p:cNvSpPr/>
            <p:nvPr/>
          </p:nvSpPr>
          <p:spPr>
            <a:xfrm>
              <a:off x="122258" y="387518"/>
              <a:ext cx="843731" cy="530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8" name="Editable text: Serotonin receptor agonists/antagonists"/>
            <p:cNvSpPr/>
            <p:nvPr/>
          </p:nvSpPr>
          <p:spPr>
            <a:xfrm>
              <a:off x="124128" y="384622"/>
              <a:ext cx="848492" cy="643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009" name="Text background: Secondary bile acid biosynthesis"/>
            <p:cNvSpPr/>
            <p:nvPr/>
          </p:nvSpPr>
          <p:spPr>
            <a:xfrm>
              <a:off x="270191" y="498043"/>
              <a:ext cx="695798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0" name="Editable text: Secondary bile acid biosynthesis"/>
            <p:cNvSpPr/>
            <p:nvPr/>
          </p:nvSpPr>
          <p:spPr>
            <a:xfrm>
              <a:off x="272062" y="494905"/>
              <a:ext cx="700559" cy="6438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011" name="Text background: Primary bile acid biosynthesis"/>
            <p:cNvSpPr/>
            <p:nvPr/>
          </p:nvSpPr>
          <p:spPr>
            <a:xfrm>
              <a:off x="334806" y="608568"/>
              <a:ext cx="631183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2" name="Editable text: Primary bile acid biosynthesis"/>
            <p:cNvSpPr/>
            <p:nvPr/>
          </p:nvSpPr>
          <p:spPr>
            <a:xfrm>
              <a:off x="336676" y="604960"/>
              <a:ext cx="635944" cy="64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013" name="Text background: Pentose and glucuronate interconversions"/>
            <p:cNvSpPr/>
            <p:nvPr/>
          </p:nvSpPr>
          <p:spPr>
            <a:xfrm>
              <a:off x="78048" y="719093"/>
              <a:ext cx="887941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4" name="Editable text: Pentose and glucuronate interconversions"/>
            <p:cNvSpPr/>
            <p:nvPr/>
          </p:nvSpPr>
          <p:spPr>
            <a:xfrm>
              <a:off x="79918" y="715520"/>
              <a:ext cx="898043" cy="639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015" name="Text background: Arginine and proline metabolism"/>
            <p:cNvSpPr/>
            <p:nvPr/>
          </p:nvSpPr>
          <p:spPr>
            <a:xfrm>
              <a:off x="282094" y="829618"/>
              <a:ext cx="683895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6" name="Editable text: Arginine and proline metabolism"/>
            <p:cNvSpPr/>
            <p:nvPr/>
          </p:nvSpPr>
          <p:spPr>
            <a:xfrm>
              <a:off x="284202" y="826015"/>
              <a:ext cx="688815" cy="642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017" name="Text background: Gap junction"/>
            <p:cNvSpPr/>
            <p:nvPr/>
          </p:nvSpPr>
          <p:spPr>
            <a:xfrm>
              <a:off x="696988" y="940143"/>
              <a:ext cx="269001" cy="51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8" name="Editable text: Gap junction"/>
            <p:cNvSpPr/>
            <p:nvPr/>
          </p:nvSpPr>
          <p:spPr>
            <a:xfrm>
              <a:off x="698858" y="937053"/>
              <a:ext cx="275888" cy="6377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019" name="Text background: Choline metabolism in cancer"/>
            <p:cNvSpPr/>
            <p:nvPr/>
          </p:nvSpPr>
          <p:spPr>
            <a:xfrm>
              <a:off x="338207" y="1050668"/>
              <a:ext cx="629483" cy="411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0" name="Editable text: Choline metabolism in cancer"/>
            <p:cNvSpPr/>
            <p:nvPr/>
          </p:nvSpPr>
          <p:spPr>
            <a:xfrm>
              <a:off x="340077" y="1047536"/>
              <a:ext cx="634244" cy="643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021" name="Text background: Synaptic vesicle cycle"/>
            <p:cNvSpPr/>
            <p:nvPr/>
          </p:nvSpPr>
          <p:spPr>
            <a:xfrm>
              <a:off x="503144" y="1159493"/>
              <a:ext cx="462845" cy="530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2" name="Editable text: Synaptic vesicle cycle"/>
            <p:cNvSpPr/>
            <p:nvPr/>
          </p:nvSpPr>
          <p:spPr>
            <a:xfrm>
              <a:off x="505014" y="1156406"/>
              <a:ext cx="471618" cy="63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023" name="Text background: Folate transport and metabolism"/>
            <p:cNvSpPr/>
            <p:nvPr/>
          </p:nvSpPr>
          <p:spPr>
            <a:xfrm>
              <a:off x="282094" y="1270018"/>
              <a:ext cx="683895" cy="49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4" name="Editable text: Folate transport and metabolism"/>
            <p:cNvSpPr/>
            <p:nvPr/>
          </p:nvSpPr>
          <p:spPr>
            <a:xfrm>
              <a:off x="283964" y="1266434"/>
              <a:ext cx="691446" cy="6403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025" name="Text background: Thermogenesis"/>
            <p:cNvSpPr/>
            <p:nvPr/>
          </p:nvSpPr>
          <p:spPr>
            <a:xfrm>
              <a:off x="634074" y="1380543"/>
              <a:ext cx="331915" cy="530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6" name="Editable text: Thermogenesis"/>
            <p:cNvSpPr/>
            <p:nvPr/>
          </p:nvSpPr>
          <p:spPr>
            <a:xfrm>
              <a:off x="635944" y="1376936"/>
              <a:ext cx="336729" cy="643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027" name="Text background: cAMP signaling pathway"/>
            <p:cNvSpPr/>
            <p:nvPr/>
          </p:nvSpPr>
          <p:spPr>
            <a:xfrm>
              <a:off x="445331" y="1491068"/>
              <a:ext cx="522358" cy="530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8" name="Editable text: cAMP signaling pathway"/>
            <p:cNvSpPr/>
            <p:nvPr/>
          </p:nvSpPr>
          <p:spPr>
            <a:xfrm>
              <a:off x="447201" y="1487454"/>
              <a:ext cx="527119" cy="643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029" name="Text background: 2"/>
            <p:cNvSpPr/>
            <p:nvPr/>
          </p:nvSpPr>
          <p:spPr>
            <a:xfrm>
              <a:off x="1411150" y="1601593"/>
              <a:ext cx="24145" cy="377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0" name="Editable text: 2"/>
            <p:cNvSpPr/>
            <p:nvPr/>
          </p:nvSpPr>
          <p:spPr>
            <a:xfrm>
              <a:off x="1413020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31" name="Text background: 0"/>
            <p:cNvSpPr/>
            <p:nvPr/>
          </p:nvSpPr>
          <p:spPr>
            <a:xfrm>
              <a:off x="1043867" y="1601593"/>
              <a:ext cx="27546" cy="377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2" name="Editable text: 0"/>
            <p:cNvSpPr/>
            <p:nvPr/>
          </p:nvSpPr>
          <p:spPr>
            <a:xfrm>
              <a:off x="1045737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33" name="Text background: 6"/>
            <p:cNvSpPr/>
            <p:nvPr/>
          </p:nvSpPr>
          <p:spPr>
            <a:xfrm>
              <a:off x="2140615" y="1601593"/>
              <a:ext cx="25846" cy="377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4" name="Editable text: 6"/>
            <p:cNvSpPr/>
            <p:nvPr/>
          </p:nvSpPr>
          <p:spPr>
            <a:xfrm>
              <a:off x="2142486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35" name="Text background: 8"/>
            <p:cNvSpPr/>
            <p:nvPr/>
          </p:nvSpPr>
          <p:spPr>
            <a:xfrm>
              <a:off x="2506198" y="1601593"/>
              <a:ext cx="25846" cy="377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6" name="Editable text: 8"/>
            <p:cNvSpPr/>
            <p:nvPr/>
          </p:nvSpPr>
          <p:spPr>
            <a:xfrm>
              <a:off x="2508068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037" name="Text background: 4"/>
            <p:cNvSpPr/>
            <p:nvPr/>
          </p:nvSpPr>
          <p:spPr>
            <a:xfrm>
              <a:off x="1775032" y="1601593"/>
              <a:ext cx="25846" cy="377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8" name="Editable text: 4"/>
            <p:cNvSpPr/>
            <p:nvPr/>
          </p:nvSpPr>
          <p:spPr>
            <a:xfrm>
              <a:off x="1776903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39" name="Text background: −Log10(p-value)"/>
            <p:cNvSpPr/>
            <p:nvPr/>
          </p:nvSpPr>
          <p:spPr>
            <a:xfrm>
              <a:off x="1593091" y="1650904"/>
              <a:ext cx="410133" cy="649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0" name="Editable text: −Log10(p-value)"/>
            <p:cNvSpPr/>
            <p:nvPr/>
          </p:nvSpPr>
          <p:spPr>
            <a:xfrm>
              <a:off x="1594961" y="1647215"/>
              <a:ext cx="418773" cy="7505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pic>
        <p:nvPicPr>
          <p:cNvPr id="76" name="图片 75">
            <a:extLst>
              <a:ext uri="{FF2B5EF4-FFF2-40B4-BE49-F238E27FC236}">
                <a16:creationId xmlns:a16="http://schemas.microsoft.com/office/drawing/2014/main" id="{A8F19248-9521-D0AB-E19E-CDC837B21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863" y="2586294"/>
            <a:ext cx="2017346" cy="1992396"/>
          </a:xfrm>
          <a:prstGeom prst="rect">
            <a:avLst/>
          </a:prstGeom>
        </p:spPr>
      </p:pic>
      <p:grpSp>
        <p:nvGrpSpPr>
          <p:cNvPr id="1041" name="Editable text overlays for image2.png"/>
          <p:cNvGrpSpPr/>
          <p:nvPr/>
        </p:nvGrpSpPr>
        <p:grpSpPr>
          <a:xfrm>
            <a:off x="5126863" y="2586294"/>
            <a:ext cx="2017346" cy="1992396"/>
            <a:chOff x="0" y="0"/>
            <a:chExt cx="2017346" cy="1992396"/>
          </a:xfrm>
        </p:grpSpPr>
        <p:sp>
          <p:nvSpPr>
            <p:cNvPr id="1042" name="Text background: Citrate cycle (TCA cycle)"/>
            <p:cNvSpPr/>
            <p:nvPr/>
          </p:nvSpPr>
          <p:spPr>
            <a:xfrm>
              <a:off x="185161" y="33682"/>
              <a:ext cx="688250" cy="680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3" name="Editable text: Citrate cycle (TCA cycle)"/>
            <p:cNvSpPr/>
            <p:nvPr/>
          </p:nvSpPr>
          <p:spPr>
            <a:xfrm>
              <a:off x="187121" y="29390"/>
              <a:ext cx="693240" cy="844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9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044" name="Text background: 4"/>
            <p:cNvSpPr/>
            <p:nvPr/>
          </p:nvSpPr>
          <p:spPr>
            <a:xfrm>
              <a:off x="137044" y="1528870"/>
              <a:ext cx="21742" cy="324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5" name="Editable text: 4"/>
            <p:cNvSpPr/>
            <p:nvPr/>
          </p:nvSpPr>
          <p:spPr>
            <a:xfrm>
              <a:off x="139004" y="1526244"/>
              <a:ext cx="30714" cy="538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46" name="Text background: 2"/>
            <p:cNvSpPr/>
            <p:nvPr/>
          </p:nvSpPr>
          <p:spPr>
            <a:xfrm>
              <a:off x="137044" y="1609065"/>
              <a:ext cx="21742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7" name="Editable text: 2"/>
            <p:cNvSpPr/>
            <p:nvPr/>
          </p:nvSpPr>
          <p:spPr>
            <a:xfrm>
              <a:off x="139004" y="1606153"/>
              <a:ext cx="32691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48" name="Text background: 0"/>
            <p:cNvSpPr/>
            <p:nvPr/>
          </p:nvSpPr>
          <p:spPr>
            <a:xfrm>
              <a:off x="135262" y="1691042"/>
              <a:ext cx="25306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9" name="Editable text: 0"/>
            <p:cNvSpPr/>
            <p:nvPr/>
          </p:nvSpPr>
          <p:spPr>
            <a:xfrm>
              <a:off x="137222" y="1688197"/>
              <a:ext cx="31716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50" name="Text background: -2"/>
            <p:cNvSpPr/>
            <p:nvPr/>
          </p:nvSpPr>
          <p:spPr>
            <a:xfrm>
              <a:off x="113877" y="1773019"/>
              <a:ext cx="44909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1" name="Editable text: -2"/>
            <p:cNvSpPr/>
            <p:nvPr/>
          </p:nvSpPr>
          <p:spPr>
            <a:xfrm>
              <a:off x="115837" y="1770107"/>
              <a:ext cx="49899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052" name="Text background: 200"/>
            <p:cNvSpPr/>
            <p:nvPr/>
          </p:nvSpPr>
          <p:spPr>
            <a:xfrm>
              <a:off x="1576987" y="1874599"/>
              <a:ext cx="69859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3" name="Editable text: 200"/>
            <p:cNvSpPr/>
            <p:nvPr/>
          </p:nvSpPr>
          <p:spPr>
            <a:xfrm>
              <a:off x="1578947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054" name="Text background: 50"/>
            <p:cNvSpPr/>
            <p:nvPr/>
          </p:nvSpPr>
          <p:spPr>
            <a:xfrm>
              <a:off x="513069" y="1874599"/>
              <a:ext cx="44909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5" name="Editable text: 50"/>
            <p:cNvSpPr/>
            <p:nvPr/>
          </p:nvSpPr>
          <p:spPr>
            <a:xfrm>
              <a:off x="515029" y="1871754"/>
              <a:ext cx="54521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056" name="Text background: 250"/>
            <p:cNvSpPr/>
            <p:nvPr/>
          </p:nvSpPr>
          <p:spPr>
            <a:xfrm>
              <a:off x="1936973" y="1874599"/>
              <a:ext cx="69859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7" name="Editable text: 250"/>
            <p:cNvSpPr/>
            <p:nvPr/>
          </p:nvSpPr>
          <p:spPr>
            <a:xfrm>
              <a:off x="1938933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058" name="Text background: 100"/>
            <p:cNvSpPr/>
            <p:nvPr/>
          </p:nvSpPr>
          <p:spPr>
            <a:xfrm>
              <a:off x="860580" y="1874599"/>
              <a:ext cx="68077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9" name="Editable text: 100"/>
            <p:cNvSpPr/>
            <p:nvPr/>
          </p:nvSpPr>
          <p:spPr>
            <a:xfrm>
              <a:off x="862540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060" name="Text background: 150"/>
            <p:cNvSpPr/>
            <p:nvPr/>
          </p:nvSpPr>
          <p:spPr>
            <a:xfrm>
              <a:off x="1220566" y="1874599"/>
              <a:ext cx="68077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1" name="Editable text: 150"/>
            <p:cNvSpPr/>
            <p:nvPr/>
          </p:nvSpPr>
          <p:spPr>
            <a:xfrm>
              <a:off x="1222526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062" name="Text background: Rank in Ordered Dataset"/>
            <p:cNvSpPr/>
            <p:nvPr/>
          </p:nvSpPr>
          <p:spPr>
            <a:xfrm>
              <a:off x="792860" y="1926280"/>
              <a:ext cx="581324" cy="449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3" name="Editable text: Rank in Ordered Dataset"/>
            <p:cNvSpPr/>
            <p:nvPr/>
          </p:nvSpPr>
          <p:spPr>
            <a:xfrm>
              <a:off x="794820" y="1922759"/>
              <a:ext cx="586313" cy="704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1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064" name="Text background: Running Enrichment Score"/>
            <p:cNvSpPr/>
            <p:nvPr/>
          </p:nvSpPr>
          <p:spPr>
            <a:xfrm rot="16200000">
              <a:off x="35464" y="320601"/>
              <a:ext cx="55602" cy="6258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5" name="Editable text: Running Enrichment Score"/>
            <p:cNvSpPr/>
            <p:nvPr/>
          </p:nvSpPr>
          <p:spPr>
            <a:xfrm rot="16200000">
              <a:off x="-252168" y="598408"/>
              <a:ext cx="630866" cy="702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066" name="Text background: Ranked List Metric"/>
            <p:cNvSpPr/>
            <p:nvPr/>
          </p:nvSpPr>
          <p:spPr>
            <a:xfrm rot="16200000">
              <a:off x="35464" y="1464714"/>
              <a:ext cx="44909" cy="4316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7" name="Editable text: Ranked List Metric"/>
            <p:cNvSpPr/>
            <p:nvPr/>
          </p:nvSpPr>
          <p:spPr>
            <a:xfrm rot="16200000">
              <a:off x="-160501" y="1645660"/>
              <a:ext cx="436839" cy="697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068" name="Text background: 0.8"/>
            <p:cNvSpPr/>
            <p:nvPr/>
          </p:nvSpPr>
          <p:spPr>
            <a:xfrm>
              <a:off x="101402" y="199418"/>
              <a:ext cx="57384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9" name="Editable text: 0.8"/>
            <p:cNvSpPr/>
            <p:nvPr/>
          </p:nvSpPr>
          <p:spPr>
            <a:xfrm>
              <a:off x="103362" y="196573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</a:t>
              </a:r>
            </a:p>
          </p:txBody>
        </p:sp>
        <p:sp>
          <p:nvSpPr>
            <p:cNvPr id="1070" name="Text background: 0.6"/>
            <p:cNvSpPr/>
            <p:nvPr/>
          </p:nvSpPr>
          <p:spPr>
            <a:xfrm>
              <a:off x="101402" y="399014"/>
              <a:ext cx="59166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1" name="Editable text: 0.6"/>
            <p:cNvSpPr/>
            <p:nvPr/>
          </p:nvSpPr>
          <p:spPr>
            <a:xfrm>
              <a:off x="103362" y="396169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0.6</a:t>
              </a:r>
            </a:p>
          </p:txBody>
        </p:sp>
        <p:sp>
          <p:nvSpPr>
            <p:cNvPr id="1072" name="Text background: 0.4"/>
            <p:cNvSpPr/>
            <p:nvPr/>
          </p:nvSpPr>
          <p:spPr>
            <a:xfrm>
              <a:off x="101402" y="598610"/>
              <a:ext cx="57384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3" name="Editable text: 0.4"/>
            <p:cNvSpPr/>
            <p:nvPr/>
          </p:nvSpPr>
          <p:spPr>
            <a:xfrm>
              <a:off x="103362" y="595765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0.4</a:t>
              </a:r>
            </a:p>
          </p:txBody>
        </p:sp>
        <p:sp>
          <p:nvSpPr>
            <p:cNvPr id="1074" name="Text background: 0.2"/>
            <p:cNvSpPr/>
            <p:nvPr/>
          </p:nvSpPr>
          <p:spPr>
            <a:xfrm>
              <a:off x="101402" y="798206"/>
              <a:ext cx="57384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5" name="Editable text: 0.2"/>
            <p:cNvSpPr/>
            <p:nvPr/>
          </p:nvSpPr>
          <p:spPr>
            <a:xfrm>
              <a:off x="103362" y="795361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</a:t>
              </a:r>
            </a:p>
          </p:txBody>
        </p:sp>
        <p:sp>
          <p:nvSpPr>
            <p:cNvPr id="1076" name="Text background: 0.0"/>
            <p:cNvSpPr/>
            <p:nvPr/>
          </p:nvSpPr>
          <p:spPr>
            <a:xfrm>
              <a:off x="101402" y="997802"/>
              <a:ext cx="59166" cy="34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7" name="Editable text: 0.0"/>
            <p:cNvSpPr/>
            <p:nvPr/>
          </p:nvSpPr>
          <p:spPr>
            <a:xfrm>
              <a:off x="103362" y="994957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D33A50-1827-1A26-1A16-C42563D2E9F2}"/>
              </a:ext>
            </a:extLst>
          </p:cNvPr>
          <p:cNvGrpSpPr/>
          <p:nvPr/>
        </p:nvGrpSpPr>
        <p:grpSpPr>
          <a:xfrm>
            <a:off x="2911603" y="2592745"/>
            <a:ext cx="1986539" cy="1853051"/>
            <a:chOff x="4239125" y="2625816"/>
            <a:chExt cx="2374398" cy="2214846"/>
          </a:xfrm>
        </p:grpSpPr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6DCA51D3-8C02-8B1C-F269-A703CB3FE2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109"/>
            <a:stretch/>
          </p:blipFill>
          <p:spPr>
            <a:xfrm>
              <a:off x="4239125" y="2625816"/>
              <a:ext cx="2065279" cy="2214846"/>
            </a:xfrm>
            <a:prstGeom prst="rect">
              <a:avLst/>
            </a:prstGeom>
          </p:spPr>
        </p:pic>
        <p:grpSp>
          <p:nvGrpSpPr>
            <p:cNvPr id="1078" name="Editable text overlays for image3.png"/>
            <p:cNvGrpSpPr/>
            <p:nvPr/>
          </p:nvGrpSpPr>
          <p:grpSpPr>
            <a:xfrm>
              <a:off x="4239125" y="2625816"/>
              <a:ext cx="2065279" cy="2214846"/>
              <a:chOff x="0" y="0"/>
              <a:chExt cx="2065279" cy="2214850"/>
            </a:xfrm>
          </p:grpSpPr>
          <p:sp>
            <p:nvSpPr>
              <p:cNvPr id="1079" name="Text background: Antineoplastics – alkylating agents"/>
              <p:cNvSpPr/>
              <p:nvPr/>
            </p:nvSpPr>
            <p:spPr>
              <a:xfrm>
                <a:off x="144050" y="31610"/>
                <a:ext cx="832054" cy="5770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0" name="Editable text: Antineoplastics – alkylating agents"/>
              <p:cNvSpPr/>
              <p:nvPr/>
            </p:nvSpPr>
            <p:spPr>
              <a:xfrm>
                <a:off x="146654" y="27721"/>
                <a:ext cx="853607" cy="730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Antineoplastics – alkylating agents</a:t>
                </a:r>
              </a:p>
            </p:txBody>
          </p:sp>
          <p:sp>
            <p:nvSpPr>
              <p:cNvPr id="1081" name="Text background: Ascorbate and aldarate metabolism"/>
              <p:cNvSpPr/>
              <p:nvPr/>
            </p:nvSpPr>
            <p:spPr>
              <a:xfrm>
                <a:off x="1202680" y="354079"/>
                <a:ext cx="855390" cy="449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2" name="Editable text: Ascorbate and aldarate metabolism"/>
              <p:cNvSpPr/>
              <p:nvPr/>
            </p:nvSpPr>
            <p:spPr>
              <a:xfrm>
                <a:off x="1205284" y="350195"/>
                <a:ext cx="861331" cy="7298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Ascorbate and aldarate metabolism</a:t>
                </a:r>
              </a:p>
            </p:txBody>
          </p:sp>
          <p:sp>
            <p:nvSpPr>
              <p:cNvPr id="1083" name="Text background: Citrate cycle (TCA cycle)"/>
              <p:cNvSpPr/>
              <p:nvPr/>
            </p:nvSpPr>
            <p:spPr>
              <a:xfrm>
                <a:off x="1170858" y="453790"/>
                <a:ext cx="592324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4" name="Editable text: Citrate cycle (TCA cycle)"/>
              <p:cNvSpPr/>
              <p:nvPr/>
            </p:nvSpPr>
            <p:spPr>
              <a:xfrm>
                <a:off x="1173192" y="450754"/>
                <a:ext cx="598264" cy="7248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Citrate cycle (TCA cycle)</a:t>
                </a:r>
              </a:p>
            </p:txBody>
          </p:sp>
          <p:sp>
            <p:nvSpPr>
              <p:cNvPr id="1085" name="Text background: Alanine, aspartate and glutamate metabolism"/>
              <p:cNvSpPr/>
              <p:nvPr/>
            </p:nvSpPr>
            <p:spPr>
              <a:xfrm>
                <a:off x="417724" y="576837"/>
                <a:ext cx="1092999" cy="5558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6" name="Editable text: Alanine, aspartate and glutamate metabolism"/>
              <p:cNvSpPr/>
              <p:nvPr/>
            </p:nvSpPr>
            <p:spPr>
              <a:xfrm>
                <a:off x="420329" y="572936"/>
                <a:ext cx="1117137" cy="7318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Alanine, aspartate and glutamate metabolism</a:t>
                </a:r>
              </a:p>
            </p:txBody>
          </p:sp>
          <p:sp>
            <p:nvSpPr>
              <p:cNvPr id="1087" name="Text background: Arginine biosynthesis"/>
              <p:cNvSpPr/>
              <p:nvPr/>
            </p:nvSpPr>
            <p:spPr>
              <a:xfrm>
                <a:off x="1537878" y="604416"/>
                <a:ext cx="513828" cy="5770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8" name="Editable text: Arginine biosynthesis"/>
              <p:cNvSpPr/>
              <p:nvPr/>
            </p:nvSpPr>
            <p:spPr>
              <a:xfrm>
                <a:off x="1540481" y="600557"/>
                <a:ext cx="519768" cy="7269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4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Arginine biosynthesis</a:t>
                </a:r>
              </a:p>
            </p:txBody>
          </p:sp>
          <p:sp>
            <p:nvSpPr>
              <p:cNvPr id="1089" name="Text background: Glyoxylate and dicarboxylate metabolism"/>
              <p:cNvSpPr/>
              <p:nvPr/>
            </p:nvSpPr>
            <p:spPr>
              <a:xfrm>
                <a:off x="693520" y="716856"/>
                <a:ext cx="980559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0" name="Editable text: Glyoxylate and dicarboxylate metabolism"/>
              <p:cNvSpPr/>
              <p:nvPr/>
            </p:nvSpPr>
            <p:spPr>
              <a:xfrm>
                <a:off x="695853" y="713552"/>
                <a:ext cx="986499" cy="7248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Glyoxylate and dicarboxylate metabolism</a:t>
                </a:r>
              </a:p>
            </p:txBody>
          </p:sp>
          <p:sp>
            <p:nvSpPr>
              <p:cNvPr id="1091" name="Text background: Glucagon signaling pathway"/>
              <p:cNvSpPr/>
              <p:nvPr/>
            </p:nvSpPr>
            <p:spPr>
              <a:xfrm>
                <a:off x="892941" y="827174"/>
                <a:ext cx="677184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2" name="Editable text: Glucagon signaling pathway"/>
              <p:cNvSpPr/>
              <p:nvPr/>
            </p:nvSpPr>
            <p:spPr>
              <a:xfrm>
                <a:off x="895275" y="823863"/>
                <a:ext cx="683124" cy="7257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Glucagon signaling pathway</a:t>
                </a:r>
              </a:p>
            </p:txBody>
          </p:sp>
          <p:sp>
            <p:nvSpPr>
              <p:cNvPr id="1093" name="Text background: Biosynthesis of amino acids"/>
              <p:cNvSpPr/>
              <p:nvPr/>
            </p:nvSpPr>
            <p:spPr>
              <a:xfrm>
                <a:off x="1315120" y="967194"/>
                <a:ext cx="666576" cy="534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4" name="Editable text: Biosynthesis of amino acids"/>
              <p:cNvSpPr/>
              <p:nvPr/>
            </p:nvSpPr>
            <p:spPr>
              <a:xfrm>
                <a:off x="1317454" y="964048"/>
                <a:ext cx="672517" cy="704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11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Biosynthesis of amino acids</a:t>
                </a:r>
              </a:p>
            </p:txBody>
          </p:sp>
          <p:sp>
            <p:nvSpPr>
              <p:cNvPr id="1095" name="Text background: Phenylalanine metabolism"/>
              <p:cNvSpPr/>
              <p:nvPr/>
            </p:nvSpPr>
            <p:spPr>
              <a:xfrm>
                <a:off x="175873" y="1047811"/>
                <a:ext cx="630511" cy="534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6" name="Editable text: Phenylalanine metabolism"/>
              <p:cNvSpPr/>
              <p:nvPr/>
            </p:nvSpPr>
            <p:spPr>
              <a:xfrm>
                <a:off x="178206" y="1044078"/>
                <a:ext cx="636451" cy="7121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1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Phenylalanine metabolism</a:t>
                </a:r>
              </a:p>
            </p:txBody>
          </p:sp>
          <p:sp>
            <p:nvSpPr>
              <p:cNvPr id="1097" name="Text background: NOD-like receptor signaling pathway"/>
              <p:cNvSpPr/>
              <p:nvPr/>
            </p:nvSpPr>
            <p:spPr>
              <a:xfrm>
                <a:off x="950222" y="1334214"/>
                <a:ext cx="889334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8" name="Editable text: NOD-like receptor signaling pathway"/>
              <p:cNvSpPr/>
              <p:nvPr/>
            </p:nvSpPr>
            <p:spPr>
              <a:xfrm>
                <a:off x="952555" y="1330824"/>
                <a:ext cx="905617" cy="73586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NOD-like receptor signaling pathway</a:t>
                </a:r>
              </a:p>
            </p:txBody>
          </p:sp>
          <p:sp>
            <p:nvSpPr>
              <p:cNvPr id="1099" name="Text background: Cysteine and methionine metabolism"/>
              <p:cNvSpPr/>
              <p:nvPr/>
            </p:nvSpPr>
            <p:spPr>
              <a:xfrm>
                <a:off x="962951" y="1455139"/>
                <a:ext cx="889334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0" name="Editable text: Cysteine and methionine metabolism"/>
              <p:cNvSpPr/>
              <p:nvPr/>
            </p:nvSpPr>
            <p:spPr>
              <a:xfrm>
                <a:off x="965284" y="1451809"/>
                <a:ext cx="895275" cy="72823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Cysteine and methionine metabolism</a:t>
                </a:r>
              </a:p>
            </p:txBody>
          </p:sp>
          <p:sp>
            <p:nvSpPr>
              <p:cNvPr id="1101" name="Text background: Tryptophan metabolism"/>
              <p:cNvSpPr/>
              <p:nvPr/>
            </p:nvSpPr>
            <p:spPr>
              <a:xfrm>
                <a:off x="483491" y="2021581"/>
                <a:ext cx="562623" cy="598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2" name="Editable text: Tryptophan metabolism"/>
              <p:cNvSpPr/>
              <p:nvPr/>
            </p:nvSpPr>
            <p:spPr>
              <a:xfrm>
                <a:off x="485824" y="2017751"/>
                <a:ext cx="568563" cy="7235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2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Tryptophan metabolism</a:t>
                </a:r>
              </a:p>
            </p:txBody>
          </p:sp>
        </p:grpSp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DDA86AF8-0AB1-3064-E5D7-BFEB55B343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2891" t="35791" r="-2276" b="37859"/>
            <a:stretch/>
          </p:blipFill>
          <p:spPr>
            <a:xfrm>
              <a:off x="6404845" y="3163202"/>
              <a:ext cx="208678" cy="583623"/>
            </a:xfrm>
            <a:prstGeom prst="rect">
              <a:avLst/>
            </a:prstGeom>
          </p:spPr>
        </p:pic>
        <p:grpSp>
          <p:nvGrpSpPr>
            <p:cNvPr id="1103" name="Editable text overlays for image3.png"/>
            <p:cNvGrpSpPr/>
            <p:nvPr/>
          </p:nvGrpSpPr>
          <p:grpSpPr>
            <a:xfrm>
              <a:off x="6404845" y="3163202"/>
              <a:ext cx="208678" cy="583623"/>
              <a:chOff x="2065456" y="792785"/>
              <a:chExt cx="208678" cy="583663"/>
            </a:xfrm>
          </p:grpSpPr>
          <p:sp>
            <p:nvSpPr>
              <p:cNvPr id="1104" name="Text background: size"/>
              <p:cNvSpPr/>
              <p:nvPr/>
            </p:nvSpPr>
            <p:spPr>
              <a:xfrm>
                <a:off x="2093892" y="937573"/>
                <a:ext cx="76805" cy="280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5" name="Editable text: size"/>
              <p:cNvSpPr/>
              <p:nvPr/>
            </p:nvSpPr>
            <p:spPr>
              <a:xfrm>
                <a:off x="2096226" y="936205"/>
                <a:ext cx="82746" cy="4345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5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size</a:t>
                </a:r>
              </a:p>
            </p:txBody>
          </p:sp>
          <p:sp>
            <p:nvSpPr>
              <p:cNvPr id="1106" name="Text background: 1"/>
              <p:cNvSpPr/>
              <p:nvPr/>
            </p:nvSpPr>
            <p:spPr>
              <a:xfrm>
                <a:off x="2204220" y="1007589"/>
                <a:ext cx="15276" cy="301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7" name="Editable text: 1"/>
              <p:cNvSpPr/>
              <p:nvPr/>
            </p:nvSpPr>
            <p:spPr>
              <a:xfrm>
                <a:off x="2206553" y="1005828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f0f0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108" name="Text background: 2"/>
              <p:cNvSpPr/>
              <p:nvPr/>
            </p:nvSpPr>
            <p:spPr>
              <a:xfrm>
                <a:off x="2204220" y="1075483"/>
                <a:ext cx="19520" cy="301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9" name="Editable text: 2"/>
              <p:cNvSpPr/>
              <p:nvPr/>
            </p:nvSpPr>
            <p:spPr>
              <a:xfrm>
                <a:off x="2206553" y="1073721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110" name="Text background: 3"/>
              <p:cNvSpPr/>
              <p:nvPr/>
            </p:nvSpPr>
            <p:spPr>
              <a:xfrm>
                <a:off x="2204220" y="1147620"/>
                <a:ext cx="19520" cy="301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1" name="Editable text: 3"/>
              <p:cNvSpPr/>
              <p:nvPr/>
            </p:nvSpPr>
            <p:spPr>
              <a:xfrm>
                <a:off x="2206553" y="1145915"/>
                <a:ext cx="30665" cy="4740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7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112" name="Text background: 4"/>
              <p:cNvSpPr/>
              <p:nvPr/>
            </p:nvSpPr>
            <p:spPr>
              <a:xfrm>
                <a:off x="2202098" y="1230366"/>
                <a:ext cx="21641" cy="3012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3" name="Editable text: 4"/>
              <p:cNvSpPr/>
              <p:nvPr/>
            </p:nvSpPr>
            <p:spPr>
              <a:xfrm>
                <a:off x="2204432" y="1228605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</p:grp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8F40DCCB-83D8-A314-6571-54C2A76E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599" y="548593"/>
            <a:ext cx="4079425" cy="16552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C0FC19-917A-5DCB-7F33-25F8C4F40584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97F328-F29B-FDD2-1DCA-8826E7E987AC}"/>
              </a:ext>
            </a:extLst>
          </p:cNvPr>
          <p:cNvSpPr txBox="1"/>
          <p:nvPr/>
        </p:nvSpPr>
        <p:spPr>
          <a:xfrm>
            <a:off x="231774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7796C-A43B-20AE-8D60-B7DBB78D9349}"/>
              </a:ext>
            </a:extLst>
          </p:cNvPr>
          <p:cNvSpPr txBox="1"/>
          <p:nvPr/>
        </p:nvSpPr>
        <p:spPr>
          <a:xfrm>
            <a:off x="148681" y="45906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AB97D9-BBFA-71D6-7C36-A9C2B7842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5" y="520761"/>
            <a:ext cx="2359962" cy="1915902"/>
          </a:xfrm>
          <a:prstGeom prst="rect">
            <a:avLst/>
          </a:prstGeom>
        </p:spPr>
      </p:pic>
      <p:grpSp>
        <p:nvGrpSpPr>
          <p:cNvPr id="1114" name="Editable text overlays for image5.png"/>
          <p:cNvGrpSpPr/>
          <p:nvPr/>
        </p:nvGrpSpPr>
        <p:grpSpPr>
          <a:xfrm>
            <a:off x="101355" y="520761"/>
            <a:ext cx="2359962" cy="1915902"/>
            <a:chOff x="0" y="0"/>
            <a:chExt cx="2359962" cy="1915902"/>
          </a:xfrm>
        </p:grpSpPr>
        <p:sp>
          <p:nvSpPr>
            <p:cNvPr id="1115" name="Text background: 6"/>
            <p:cNvSpPr/>
            <p:nvPr/>
          </p:nvSpPr>
          <p:spPr>
            <a:xfrm>
              <a:off x="153809" y="381211"/>
              <a:ext cx="29007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6" name="Editable text: 6"/>
            <p:cNvSpPr/>
            <p:nvPr/>
          </p:nvSpPr>
          <p:spPr>
            <a:xfrm>
              <a:off x="155779" y="377500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117" name="Text background: VIP_Total"/>
            <p:cNvSpPr/>
            <p:nvPr/>
          </p:nvSpPr>
          <p:spPr>
            <a:xfrm>
              <a:off x="2044644" y="456415"/>
              <a:ext cx="263571" cy="504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8" name="Editable text: VIP_Total"/>
            <p:cNvSpPr/>
            <p:nvPr/>
          </p:nvSpPr>
          <p:spPr>
            <a:xfrm>
              <a:off x="2046613" y="452533"/>
              <a:ext cx="268584" cy="6868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VIP_Total</a:t>
              </a:r>
            </a:p>
          </p:txBody>
        </p:sp>
        <p:sp>
          <p:nvSpPr>
            <p:cNvPr id="1119" name="Text background: 1"/>
            <p:cNvSpPr/>
            <p:nvPr/>
          </p:nvSpPr>
          <p:spPr>
            <a:xfrm>
              <a:off x="2157449" y="556686"/>
              <a:ext cx="21845" cy="469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0" name="Editable text: 1"/>
            <p:cNvSpPr/>
            <p:nvPr/>
          </p:nvSpPr>
          <p:spPr>
            <a:xfrm>
              <a:off x="2159419" y="551744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21" name="Text background: 2"/>
            <p:cNvSpPr/>
            <p:nvPr/>
          </p:nvSpPr>
          <p:spPr>
            <a:xfrm>
              <a:off x="2155659" y="633680"/>
              <a:ext cx="30798" cy="469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2" name="Editable text: 2"/>
            <p:cNvSpPr/>
            <p:nvPr/>
          </p:nvSpPr>
          <p:spPr>
            <a:xfrm>
              <a:off x="2157628" y="628738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23" name="Text background: −log10 p-value"/>
            <p:cNvSpPr/>
            <p:nvPr/>
          </p:nvSpPr>
          <p:spPr>
            <a:xfrm rot="16200000">
              <a:off x="30261" y="678444"/>
              <a:ext cx="63028" cy="3835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4" name="Editable text: −log10 p-value"/>
            <p:cNvSpPr/>
            <p:nvPr/>
          </p:nvSpPr>
          <p:spPr>
            <a:xfrm rot="16200000">
              <a:off x="-132502" y="831332"/>
              <a:ext cx="388552" cy="777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5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p-value</a:t>
              </a:r>
            </a:p>
          </p:txBody>
        </p:sp>
        <p:sp>
          <p:nvSpPr>
            <p:cNvPr id="1125" name="Text background: 3"/>
            <p:cNvSpPr/>
            <p:nvPr/>
          </p:nvSpPr>
          <p:spPr>
            <a:xfrm>
              <a:off x="2155659" y="712465"/>
              <a:ext cx="30798" cy="487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6" name="Editable text: 3"/>
            <p:cNvSpPr/>
            <p:nvPr/>
          </p:nvSpPr>
          <p:spPr>
            <a:xfrm>
              <a:off x="2157628" y="707334"/>
              <a:ext cx="42806" cy="833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127" name="Text background: 4"/>
            <p:cNvSpPr/>
            <p:nvPr/>
          </p:nvSpPr>
          <p:spPr>
            <a:xfrm>
              <a:off x="2155659" y="789459"/>
              <a:ext cx="30798" cy="469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8" name="Editable text: 4"/>
            <p:cNvSpPr/>
            <p:nvPr/>
          </p:nvSpPr>
          <p:spPr>
            <a:xfrm>
              <a:off x="2157628" y="784517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29" name="Text background: 4"/>
            <p:cNvSpPr/>
            <p:nvPr/>
          </p:nvSpPr>
          <p:spPr>
            <a:xfrm>
              <a:off x="153809" y="793040"/>
              <a:ext cx="27217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0" name="Editable text: 4"/>
            <p:cNvSpPr/>
            <p:nvPr/>
          </p:nvSpPr>
          <p:spPr>
            <a:xfrm>
              <a:off x="155779" y="78925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31" name="Text background: 5"/>
            <p:cNvSpPr/>
            <p:nvPr/>
          </p:nvSpPr>
          <p:spPr>
            <a:xfrm>
              <a:off x="2155659" y="868244"/>
              <a:ext cx="30798" cy="487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2" name="Editable text: 5"/>
            <p:cNvSpPr/>
            <p:nvPr/>
          </p:nvSpPr>
          <p:spPr>
            <a:xfrm>
              <a:off x="2157628" y="862388"/>
              <a:ext cx="43813" cy="8452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9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133" name="Text background: change"/>
            <p:cNvSpPr/>
            <p:nvPr/>
          </p:nvSpPr>
          <p:spPr>
            <a:xfrm>
              <a:off x="2044644" y="1007908"/>
              <a:ext cx="202692" cy="648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4" name="Editable text: change"/>
            <p:cNvSpPr/>
            <p:nvPr/>
          </p:nvSpPr>
          <p:spPr>
            <a:xfrm>
              <a:off x="2046613" y="1002909"/>
              <a:ext cx="208657" cy="818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change</a:t>
              </a:r>
            </a:p>
          </p:txBody>
        </p:sp>
        <p:sp>
          <p:nvSpPr>
            <p:cNvPr id="1135" name="Text background: Up"/>
            <p:cNvSpPr/>
            <p:nvPr/>
          </p:nvSpPr>
          <p:spPr>
            <a:xfrm>
              <a:off x="2157449" y="1108179"/>
              <a:ext cx="75562" cy="648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6" name="Editable text: Up"/>
            <p:cNvSpPr/>
            <p:nvPr/>
          </p:nvSpPr>
          <p:spPr>
            <a:xfrm>
              <a:off x="2159419" y="1103714"/>
              <a:ext cx="80575" cy="755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4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Up</a:t>
              </a:r>
            </a:p>
          </p:txBody>
        </p:sp>
        <p:sp>
          <p:nvSpPr>
            <p:cNvPr id="1137" name="Text background: Equals"/>
            <p:cNvSpPr/>
            <p:nvPr/>
          </p:nvSpPr>
          <p:spPr>
            <a:xfrm>
              <a:off x="2157449" y="1185174"/>
              <a:ext cx="184786" cy="648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8" name="Editable text: Equals"/>
            <p:cNvSpPr/>
            <p:nvPr/>
          </p:nvSpPr>
          <p:spPr>
            <a:xfrm>
              <a:off x="2159419" y="1180347"/>
              <a:ext cx="189800" cy="7978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Equals</a:t>
              </a:r>
            </a:p>
          </p:txBody>
        </p:sp>
        <p:sp>
          <p:nvSpPr>
            <p:cNvPr id="1139" name="Text background: 2"/>
            <p:cNvSpPr/>
            <p:nvPr/>
          </p:nvSpPr>
          <p:spPr>
            <a:xfrm>
              <a:off x="155600" y="1206660"/>
              <a:ext cx="25426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0" name="Editable text: 2"/>
            <p:cNvSpPr/>
            <p:nvPr/>
          </p:nvSpPr>
          <p:spPr>
            <a:xfrm>
              <a:off x="157570" y="120287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41" name="Text background: Down"/>
            <p:cNvSpPr/>
            <p:nvPr/>
          </p:nvSpPr>
          <p:spPr>
            <a:xfrm>
              <a:off x="2157449" y="1262168"/>
              <a:ext cx="150765" cy="504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2" name="Editable text: Down"/>
            <p:cNvSpPr/>
            <p:nvPr/>
          </p:nvSpPr>
          <p:spPr>
            <a:xfrm>
              <a:off x="2159419" y="1257529"/>
              <a:ext cx="155779" cy="775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Down</a:t>
              </a:r>
            </a:p>
          </p:txBody>
        </p:sp>
        <p:sp>
          <p:nvSpPr>
            <p:cNvPr id="1143" name="Text background: 0"/>
            <p:cNvSpPr/>
            <p:nvPr/>
          </p:nvSpPr>
          <p:spPr>
            <a:xfrm>
              <a:off x="153809" y="1618490"/>
              <a:ext cx="29007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4" name="Editable text: 0"/>
            <p:cNvSpPr/>
            <p:nvPr/>
          </p:nvSpPr>
          <p:spPr>
            <a:xfrm>
              <a:off x="155779" y="1614779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45" name="Text background: -2"/>
            <p:cNvSpPr/>
            <p:nvPr/>
          </p:nvSpPr>
          <p:spPr>
            <a:xfrm>
              <a:off x="540571" y="1729505"/>
              <a:ext cx="54075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6" name="Editable text: -2"/>
            <p:cNvSpPr/>
            <p:nvPr/>
          </p:nvSpPr>
          <p:spPr>
            <a:xfrm>
              <a:off x="542541" y="1725715"/>
              <a:ext cx="59089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147" name="Text background: 0"/>
            <p:cNvSpPr/>
            <p:nvPr/>
          </p:nvSpPr>
          <p:spPr>
            <a:xfrm>
              <a:off x="970306" y="1729505"/>
              <a:ext cx="29007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8" name="Editable text: 0"/>
            <p:cNvSpPr/>
            <p:nvPr/>
          </p:nvSpPr>
          <p:spPr>
            <a:xfrm>
              <a:off x="972276" y="1725794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49" name="Text background: 2"/>
            <p:cNvSpPr/>
            <p:nvPr/>
          </p:nvSpPr>
          <p:spPr>
            <a:xfrm>
              <a:off x="1389298" y="1729505"/>
              <a:ext cx="25426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0" name="Editable text: 2"/>
            <p:cNvSpPr/>
            <p:nvPr/>
          </p:nvSpPr>
          <p:spPr>
            <a:xfrm>
              <a:off x="1391267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51" name="Text background: 4"/>
            <p:cNvSpPr/>
            <p:nvPr/>
          </p:nvSpPr>
          <p:spPr>
            <a:xfrm>
              <a:off x="1806499" y="1729505"/>
              <a:ext cx="27217" cy="3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2" name="Editable text: 4"/>
            <p:cNvSpPr/>
            <p:nvPr/>
          </p:nvSpPr>
          <p:spPr>
            <a:xfrm>
              <a:off x="1808469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53" name="Text background: log2 Fold Change"/>
            <p:cNvSpPr/>
            <p:nvPr/>
          </p:nvSpPr>
          <p:spPr>
            <a:xfrm>
              <a:off x="852129" y="1826195"/>
              <a:ext cx="483810" cy="648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4" name="Editable text: log2 Fold Change"/>
            <p:cNvSpPr/>
            <p:nvPr/>
          </p:nvSpPr>
          <p:spPr>
            <a:xfrm>
              <a:off x="854099" y="1821783"/>
              <a:ext cx="489495" cy="820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B61710F-1EC6-33E8-E5CD-0B3D442CAF62}"/>
              </a:ext>
            </a:extLst>
          </p:cNvPr>
          <p:cNvSpPr txBox="1"/>
          <p:nvPr/>
        </p:nvSpPr>
        <p:spPr>
          <a:xfrm>
            <a:off x="2638106" y="288362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158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2F0A3-591B-553D-A017-883A3D54CECE}"/>
              </a:ext>
            </a:extLst>
          </p:cNvPr>
          <p:cNvSpPr txBox="1"/>
          <p:nvPr/>
        </p:nvSpPr>
        <p:spPr>
          <a:xfrm>
            <a:off x="5886029" y="33529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63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67F51E2-BF4B-C02E-E275-BC593F562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024" y="565425"/>
            <a:ext cx="316883" cy="1662703"/>
          </a:xfrm>
          <a:prstGeom prst="rect">
            <a:avLst/>
          </a:prstGeom>
        </p:spPr>
      </p:pic>
      <p:grpSp>
        <p:nvGrpSpPr>
          <p:cNvPr id="1155" name="Editable text overlays for image6.png"/>
          <p:cNvGrpSpPr/>
          <p:nvPr/>
        </p:nvGrpSpPr>
        <p:grpSpPr>
          <a:xfrm>
            <a:off x="6650024" y="565425"/>
            <a:ext cx="316883" cy="1662703"/>
            <a:chOff x="0" y="0"/>
            <a:chExt cx="316883" cy="1662704"/>
          </a:xfrm>
        </p:grpSpPr>
        <p:sp>
          <p:nvSpPr>
            <p:cNvPr id="1156" name="Text background: 6"/>
            <p:cNvSpPr/>
            <p:nvPr/>
          </p:nvSpPr>
          <p:spPr>
            <a:xfrm>
              <a:off x="186215" y="48278"/>
              <a:ext cx="52565" cy="805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7" name="Editable text: 6"/>
            <p:cNvSpPr/>
            <p:nvPr/>
          </p:nvSpPr>
          <p:spPr>
            <a:xfrm>
              <a:off x="188266" y="38206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158" name="Text background: 4"/>
            <p:cNvSpPr/>
            <p:nvPr/>
          </p:nvSpPr>
          <p:spPr>
            <a:xfrm>
              <a:off x="186215" y="288736"/>
              <a:ext cx="50701" cy="786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9" name="Editable text: 4"/>
            <p:cNvSpPr/>
            <p:nvPr/>
          </p:nvSpPr>
          <p:spPr>
            <a:xfrm>
              <a:off x="188266" y="278794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60" name="Text background: 2"/>
            <p:cNvSpPr/>
            <p:nvPr/>
          </p:nvSpPr>
          <p:spPr>
            <a:xfrm>
              <a:off x="186215" y="527331"/>
              <a:ext cx="50701" cy="786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1" name="Editable text: 2"/>
            <p:cNvSpPr/>
            <p:nvPr/>
          </p:nvSpPr>
          <p:spPr>
            <a:xfrm>
              <a:off x="188266" y="517389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62" name="Text background: 0"/>
            <p:cNvSpPr/>
            <p:nvPr/>
          </p:nvSpPr>
          <p:spPr>
            <a:xfrm>
              <a:off x="184351" y="767789"/>
              <a:ext cx="56293" cy="805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3" name="Editable text: 0"/>
            <p:cNvSpPr/>
            <p:nvPr/>
          </p:nvSpPr>
          <p:spPr>
            <a:xfrm>
              <a:off x="186402" y="757717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64" name="Text background: -2"/>
            <p:cNvSpPr/>
            <p:nvPr/>
          </p:nvSpPr>
          <p:spPr>
            <a:xfrm>
              <a:off x="188079" y="1008247"/>
              <a:ext cx="112214" cy="786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5" name="Editable text: -2"/>
            <p:cNvSpPr/>
            <p:nvPr/>
          </p:nvSpPr>
          <p:spPr>
            <a:xfrm>
              <a:off x="190130" y="998305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166" name="Text background: -4"/>
            <p:cNvSpPr/>
            <p:nvPr/>
          </p:nvSpPr>
          <p:spPr>
            <a:xfrm>
              <a:off x="188079" y="1246841"/>
              <a:ext cx="112214" cy="786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7" name="Editable text: -4"/>
            <p:cNvSpPr/>
            <p:nvPr/>
          </p:nvSpPr>
          <p:spPr>
            <a:xfrm>
              <a:off x="190130" y="1236900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-4</a:t>
              </a:r>
            </a:p>
          </p:txBody>
        </p:sp>
        <p:sp>
          <p:nvSpPr>
            <p:cNvPr id="1168" name="Text background: -6"/>
            <p:cNvSpPr/>
            <p:nvPr/>
          </p:nvSpPr>
          <p:spPr>
            <a:xfrm>
              <a:off x="188079" y="1487300"/>
              <a:ext cx="114078" cy="805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9" name="Editable text: -6"/>
            <p:cNvSpPr/>
            <p:nvPr/>
          </p:nvSpPr>
          <p:spPr>
            <a:xfrm>
              <a:off x="190130" y="1477228"/>
              <a:ext cx="119297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14318116-31FE-954A-E0B5-5325B390A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460" y="574076"/>
            <a:ext cx="500102" cy="424744"/>
          </a:xfrm>
          <a:prstGeom prst="rect">
            <a:avLst/>
          </a:prstGeom>
        </p:spPr>
      </p:pic>
      <p:grpSp>
        <p:nvGrpSpPr>
          <p:cNvPr id="1170" name="Editable text overlays for image7.png"/>
          <p:cNvGrpSpPr/>
          <p:nvPr/>
        </p:nvGrpSpPr>
        <p:grpSpPr>
          <a:xfrm>
            <a:off x="6884460" y="574076"/>
            <a:ext cx="500102" cy="424744"/>
            <a:chOff x="0" y="0"/>
            <a:chExt cx="500102" cy="424744"/>
          </a:xfrm>
        </p:grpSpPr>
        <p:sp>
          <p:nvSpPr>
            <p:cNvPr id="1171" name="Text background: Group"/>
            <p:cNvSpPr/>
            <p:nvPr/>
          </p:nvSpPr>
          <p:spPr>
            <a:xfrm>
              <a:off x="56347" y="3254"/>
              <a:ext cx="288072" cy="97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2" name="Editable text: Group"/>
            <p:cNvSpPr/>
            <p:nvPr/>
          </p:nvSpPr>
          <p:spPr>
            <a:xfrm>
              <a:off x="58231" y="-4813"/>
              <a:ext cx="292868" cy="1279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46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</a:p>
          </p:txBody>
        </p:sp>
        <p:sp>
          <p:nvSpPr>
            <p:cNvPr id="1173" name="Text background: Contro"/>
            <p:cNvSpPr/>
            <p:nvPr/>
          </p:nvSpPr>
          <p:spPr>
            <a:xfrm>
              <a:off x="225902" y="141981"/>
              <a:ext cx="276084" cy="7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4" name="Editable text: Contro"/>
            <p:cNvSpPr/>
            <p:nvPr/>
          </p:nvSpPr>
          <p:spPr>
            <a:xfrm>
              <a:off x="227786" y="134334"/>
              <a:ext cx="280986" cy="12254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1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Contro</a:t>
              </a:r>
            </a:p>
          </p:txBody>
        </p:sp>
        <p:sp>
          <p:nvSpPr>
            <p:cNvPr id="1175" name="Text background: COPD"/>
            <p:cNvSpPr/>
            <p:nvPr/>
          </p:nvSpPr>
          <p:spPr>
            <a:xfrm>
              <a:off x="225902" y="282421"/>
              <a:ext cx="274371" cy="7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6" name="Editable text: COPD"/>
            <p:cNvSpPr/>
            <p:nvPr/>
          </p:nvSpPr>
          <p:spPr>
            <a:xfrm>
              <a:off x="227786" y="274473"/>
              <a:ext cx="280719" cy="12640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3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COPD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B75CFA9-5426-7E89-A98C-A1BBFAEF8E57}"/>
              </a:ext>
            </a:extLst>
          </p:cNvPr>
          <p:cNvSpPr/>
          <p:nvPr/>
        </p:nvSpPr>
        <p:spPr>
          <a:xfrm>
            <a:off x="7086409" y="691043"/>
            <a:ext cx="305618" cy="276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DC47EE-AD08-400D-1300-A295D477E28D}"/>
              </a:ext>
            </a:extLst>
          </p:cNvPr>
          <p:cNvSpPr txBox="1"/>
          <p:nvPr/>
        </p:nvSpPr>
        <p:spPr>
          <a:xfrm>
            <a:off x="7022360" y="621832"/>
            <a:ext cx="596638" cy="395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kumimoji="1" lang="en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COPD-PH</a:t>
            </a:r>
            <a:endParaRPr kumimoji="1"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F33258-E06A-69F5-058C-2208354080B3}"/>
              </a:ext>
            </a:extLst>
          </p:cNvPr>
          <p:cNvSpPr/>
          <p:nvPr/>
        </p:nvSpPr>
        <p:spPr>
          <a:xfrm>
            <a:off x="2642170" y="555655"/>
            <a:ext cx="2844000" cy="799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2C4063-B7FB-D04C-33D0-7ABAB69B7270}"/>
              </a:ext>
            </a:extLst>
          </p:cNvPr>
          <p:cNvSpPr/>
          <p:nvPr/>
        </p:nvSpPr>
        <p:spPr>
          <a:xfrm>
            <a:off x="5486169" y="1356386"/>
            <a:ext cx="1152501" cy="828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A3E8260-BFE5-D272-7487-7F1A4DBBE912}"/>
              </a:ext>
            </a:extLst>
          </p:cNvPr>
          <p:cNvSpPr txBox="1"/>
          <p:nvPr/>
        </p:nvSpPr>
        <p:spPr>
          <a:xfrm>
            <a:off x="1237189" y="836011"/>
            <a:ext cx="9509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N-Acetyl-L-methionine</a:t>
            </a:r>
            <a:endParaRPr kumimoji="1"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9AE62A-E859-FC57-68F9-97A26FBE7567}"/>
              </a:ext>
            </a:extLst>
          </p:cNvPr>
          <p:cNvSpPr txBox="1"/>
          <p:nvPr/>
        </p:nvSpPr>
        <p:spPr>
          <a:xfrm>
            <a:off x="1212754" y="568427"/>
            <a:ext cx="5116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L-Cystine</a:t>
            </a:r>
            <a:endParaRPr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3DB5F9-F68D-4F38-64B8-0D39AE1AB18E}"/>
              </a:ext>
            </a:extLst>
          </p:cNvPr>
          <p:cNvSpPr txBox="1"/>
          <p:nvPr/>
        </p:nvSpPr>
        <p:spPr>
          <a:xfrm>
            <a:off x="1130143" y="687977"/>
            <a:ext cx="9973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5-Hydroxy-L-tryptophan</a:t>
            </a:r>
            <a:endParaRPr lang="zh-CN" altLang="en-US" sz="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73203BD-5755-9F8C-C225-D0D90B449FC3}"/>
              </a:ext>
            </a:extLst>
          </p:cNvPr>
          <p:cNvSpPr txBox="1"/>
          <p:nvPr/>
        </p:nvSpPr>
        <p:spPr>
          <a:xfrm>
            <a:off x="1219478" y="1032507"/>
            <a:ext cx="7056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Antheraxanthin</a:t>
            </a:r>
            <a:endParaRPr lang="zh-CN" altLang="en-US" sz="600" dirty="0"/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AD9CC897-BD60-38CD-EE0E-C79D921DEBD6}"/>
              </a:ext>
            </a:extLst>
          </p:cNvPr>
          <p:cNvCxnSpPr/>
          <p:nvPr/>
        </p:nvCxnSpPr>
        <p:spPr>
          <a:xfrm flipV="1">
            <a:off x="1219478" y="840186"/>
            <a:ext cx="135314" cy="167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3CA55CE6-3703-5336-ED7C-46BB58A28CFF}"/>
              </a:ext>
            </a:extLst>
          </p:cNvPr>
          <p:cNvCxnSpPr>
            <a:cxnSpLocks/>
          </p:cNvCxnSpPr>
          <p:nvPr/>
        </p:nvCxnSpPr>
        <p:spPr>
          <a:xfrm flipV="1">
            <a:off x="1207905" y="943977"/>
            <a:ext cx="103455" cy="242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963311B-89A8-115D-139F-1CBF1E50092A}"/>
              </a:ext>
            </a:extLst>
          </p:cNvPr>
          <p:cNvSpPr txBox="1"/>
          <p:nvPr/>
        </p:nvSpPr>
        <p:spPr>
          <a:xfrm>
            <a:off x="257425" y="589837"/>
            <a:ext cx="8915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Ketophenylbutazone</a:t>
            </a:r>
            <a:endParaRPr lang="zh-CN" alt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E71AE196-D634-E94E-0ED7-44430887DCBB}"/>
              </a:ext>
            </a:extLst>
          </p:cNvPr>
          <p:cNvCxnSpPr>
            <a:cxnSpLocks/>
          </p:cNvCxnSpPr>
          <p:nvPr/>
        </p:nvCxnSpPr>
        <p:spPr>
          <a:xfrm flipV="1">
            <a:off x="384346" y="734148"/>
            <a:ext cx="73352" cy="178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E016331-A5E2-324E-D396-278604EC1B7B}"/>
              </a:ext>
            </a:extLst>
          </p:cNvPr>
          <p:cNvSpPr txBox="1"/>
          <p:nvPr/>
        </p:nvSpPr>
        <p:spPr>
          <a:xfrm>
            <a:off x="384346" y="786260"/>
            <a:ext cx="885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>
                <a:latin typeface="Arial"/>
                <a:ea typeface="Arial"/>
                <a:cs typeface="Arial"/>
              </a:rPr>
              <a:t>Prasterone-3-sulfate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D91C27-1ACC-C3D8-DFD4-839C6F63C8B3}"/>
              </a:ext>
            </a:extLst>
          </p:cNvPr>
          <p:cNvSpPr txBox="1"/>
          <p:nvPr/>
        </p:nvSpPr>
        <p:spPr>
          <a:xfrm>
            <a:off x="214646" y="972207"/>
            <a:ext cx="6383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Sphaerosinin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1427D3C-E23F-B968-5936-56C7D99E6EA8}"/>
              </a:ext>
            </a:extLst>
          </p:cNvPr>
          <p:cNvSpPr txBox="1"/>
          <p:nvPr/>
        </p:nvSpPr>
        <p:spPr>
          <a:xfrm>
            <a:off x="507987" y="320495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Arial"/>
                <a:ea typeface="Arial"/>
                <a:cs typeface="Arial"/>
              </a:rPr>
              <a:t>COPD-PD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vs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Control</a:t>
            </a:r>
            <a:endParaRPr lang="zh-CN" altLang="en-US" dirty="0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2C1889E7-2EB3-77EF-BCCB-51374C7100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16" y="2658877"/>
            <a:ext cx="2572493" cy="1720789"/>
          </a:xfrm>
          <a:prstGeom prst="rect">
            <a:avLst/>
          </a:prstGeom>
        </p:spPr>
      </p:pic>
      <p:grpSp>
        <p:nvGrpSpPr>
          <p:cNvPr id="1177" name="Editable text overlays for image8.png"/>
          <p:cNvGrpSpPr/>
          <p:nvPr/>
        </p:nvGrpSpPr>
        <p:grpSpPr>
          <a:xfrm>
            <a:off x="128416" y="2658877"/>
            <a:ext cx="2572493" cy="1720789"/>
            <a:chOff x="0" y="0"/>
            <a:chExt cx="2572493" cy="1720789"/>
          </a:xfrm>
        </p:grpSpPr>
        <p:sp>
          <p:nvSpPr>
            <p:cNvPr id="1178" name="Text background: Phenylalanine metabolism"/>
            <p:cNvSpPr/>
            <p:nvPr/>
          </p:nvSpPr>
          <p:spPr>
            <a:xfrm>
              <a:off x="469089" y="69310"/>
              <a:ext cx="554477" cy="504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9" name="Editable text: Phenylalanine metabolism"/>
            <p:cNvSpPr/>
            <p:nvPr/>
          </p:nvSpPr>
          <p:spPr>
            <a:xfrm>
              <a:off x="471479" y="66285"/>
              <a:ext cx="568844" cy="6356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Phenylalanine metabolism</a:t>
              </a:r>
            </a:p>
          </p:txBody>
        </p:sp>
        <p:sp>
          <p:nvSpPr>
            <p:cNvPr id="1180" name="Text background: Biosynthesis of amino acids"/>
            <p:cNvSpPr/>
            <p:nvPr/>
          </p:nvSpPr>
          <p:spPr>
            <a:xfrm>
              <a:off x="436498" y="197500"/>
              <a:ext cx="589240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1" name="Editable text: Biosynthesis of amino acids"/>
            <p:cNvSpPr/>
            <p:nvPr/>
          </p:nvSpPr>
          <p:spPr>
            <a:xfrm>
              <a:off x="438888" y="194917"/>
              <a:ext cx="600653" cy="639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Biosynthesis of amino acids</a:t>
              </a:r>
            </a:p>
          </p:txBody>
        </p:sp>
        <p:sp>
          <p:nvSpPr>
            <p:cNvPr id="1182" name="Text background: Citrate cycle (TCA cycle)"/>
            <p:cNvSpPr/>
            <p:nvPr/>
          </p:nvSpPr>
          <p:spPr>
            <a:xfrm>
              <a:off x="499507" y="325690"/>
              <a:ext cx="524059" cy="547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3" name="Editable text: Citrate cycle (TCA cycle)"/>
            <p:cNvSpPr/>
            <p:nvPr/>
          </p:nvSpPr>
          <p:spPr>
            <a:xfrm>
              <a:off x="501897" y="323335"/>
              <a:ext cx="534080" cy="6405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184" name="Text background: Cysteine and methionine metabolism"/>
            <p:cNvSpPr/>
            <p:nvPr/>
          </p:nvSpPr>
          <p:spPr>
            <a:xfrm>
              <a:off x="238781" y="456053"/>
              <a:ext cx="784784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5" name="Editable text: Cysteine and methionine metabolism"/>
            <p:cNvSpPr/>
            <p:nvPr/>
          </p:nvSpPr>
          <p:spPr>
            <a:xfrm>
              <a:off x="241171" y="453449"/>
              <a:ext cx="794636" cy="642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Cysteine and methionine metabolism</a:t>
              </a:r>
            </a:p>
          </p:txBody>
        </p:sp>
        <p:sp>
          <p:nvSpPr>
            <p:cNvPr id="1186" name="Text background: Arginine biosynthesis"/>
            <p:cNvSpPr/>
            <p:nvPr/>
          </p:nvSpPr>
          <p:spPr>
            <a:xfrm>
              <a:off x="571206" y="584243"/>
              <a:ext cx="454532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7" name="Editable text: Arginine biosynthesis"/>
            <p:cNvSpPr/>
            <p:nvPr/>
          </p:nvSpPr>
          <p:spPr>
            <a:xfrm>
              <a:off x="573834" y="581162"/>
              <a:ext cx="462550" cy="642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biosynthesis</a:t>
              </a:r>
            </a:p>
          </p:txBody>
        </p:sp>
        <p:sp>
          <p:nvSpPr>
            <p:cNvPr id="1188" name="Text background: Glucagon signaling pathway"/>
            <p:cNvSpPr/>
            <p:nvPr/>
          </p:nvSpPr>
          <p:spPr>
            <a:xfrm>
              <a:off x="427807" y="712433"/>
              <a:ext cx="597931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9" name="Editable text: Glucagon signaling pathway"/>
            <p:cNvSpPr/>
            <p:nvPr/>
          </p:nvSpPr>
          <p:spPr>
            <a:xfrm>
              <a:off x="430197" y="709844"/>
              <a:ext cx="608733" cy="6400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Glucagon signaling pathway</a:t>
              </a:r>
            </a:p>
          </p:txBody>
        </p:sp>
        <p:sp>
          <p:nvSpPr>
            <p:cNvPr id="1190" name="Text background: Tryptophan metabolism"/>
            <p:cNvSpPr/>
            <p:nvPr/>
          </p:nvSpPr>
          <p:spPr>
            <a:xfrm>
              <a:off x="527752" y="840623"/>
              <a:ext cx="495813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1" name="Editable text: Tryptophan metabolism"/>
            <p:cNvSpPr/>
            <p:nvPr/>
          </p:nvSpPr>
          <p:spPr>
            <a:xfrm>
              <a:off x="530142" y="837588"/>
              <a:ext cx="508551" cy="636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Tryptophan metabolism</a:t>
              </a:r>
            </a:p>
          </p:txBody>
        </p:sp>
        <p:sp>
          <p:nvSpPr>
            <p:cNvPr id="1192" name="Text background: Alanine, aspartate and glutamate metabolism"/>
            <p:cNvSpPr/>
            <p:nvPr/>
          </p:nvSpPr>
          <p:spPr>
            <a:xfrm>
              <a:off x="60619" y="968813"/>
              <a:ext cx="962947" cy="504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3" name="Editable text: Alanine, aspartate and glutamate metabolism"/>
            <p:cNvSpPr/>
            <p:nvPr/>
          </p:nvSpPr>
          <p:spPr>
            <a:xfrm>
              <a:off x="63247" y="965714"/>
              <a:ext cx="970015" cy="644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Alanine, aspartate and glutamate metabolism</a:t>
              </a:r>
            </a:p>
          </p:txBody>
        </p:sp>
        <p:sp>
          <p:nvSpPr>
            <p:cNvPr id="1194" name="Text background: Antineoplastics – alkylating agents"/>
            <p:cNvSpPr/>
            <p:nvPr/>
          </p:nvSpPr>
          <p:spPr>
            <a:xfrm>
              <a:off x="290926" y="1097003"/>
              <a:ext cx="734812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5" name="Editable text: Antineoplastics – alkylating agents"/>
            <p:cNvSpPr/>
            <p:nvPr/>
          </p:nvSpPr>
          <p:spPr>
            <a:xfrm>
              <a:off x="293555" y="1093902"/>
              <a:ext cx="741540" cy="64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Antineoplastics – alkylating agents</a:t>
              </a:r>
            </a:p>
          </p:txBody>
        </p:sp>
        <p:sp>
          <p:nvSpPr>
            <p:cNvPr id="1196" name="Text background: NOD-like receptor signaling pathway"/>
            <p:cNvSpPr/>
            <p:nvPr/>
          </p:nvSpPr>
          <p:spPr>
            <a:xfrm>
              <a:off x="240954" y="1225193"/>
              <a:ext cx="784784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7" name="Editable text: NOD-like receptor signaling pathway"/>
            <p:cNvSpPr/>
            <p:nvPr/>
          </p:nvSpPr>
          <p:spPr>
            <a:xfrm>
              <a:off x="243344" y="1222537"/>
              <a:ext cx="790868" cy="648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1198" name="Text background: Ascorbate and aldarate metabolism"/>
            <p:cNvSpPr/>
            <p:nvPr/>
          </p:nvSpPr>
          <p:spPr>
            <a:xfrm>
              <a:off x="271372" y="1353383"/>
              <a:ext cx="752193" cy="395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9" name="Editable text: Ascorbate and aldarate metabolism"/>
            <p:cNvSpPr/>
            <p:nvPr/>
          </p:nvSpPr>
          <p:spPr>
            <a:xfrm>
              <a:off x="273999" y="1350311"/>
              <a:ext cx="762758" cy="641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Ascorbate and aldarate metabolism</a:t>
              </a:r>
            </a:p>
          </p:txBody>
        </p:sp>
        <p:sp>
          <p:nvSpPr>
            <p:cNvPr id="1200" name="Text background: Glyoxylate and dicarboxylate metabolism"/>
            <p:cNvSpPr/>
            <p:nvPr/>
          </p:nvSpPr>
          <p:spPr>
            <a:xfrm>
              <a:off x="158391" y="1481573"/>
              <a:ext cx="865175" cy="525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1" name="Editable text: Glyoxylate and dicarboxylate metabolism"/>
            <p:cNvSpPr/>
            <p:nvPr/>
          </p:nvSpPr>
          <p:spPr>
            <a:xfrm>
              <a:off x="160781" y="1478993"/>
              <a:ext cx="879610" cy="639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Glyoxylate and dicarboxylate metabolism</a:t>
              </a:r>
            </a:p>
          </p:txBody>
        </p:sp>
        <p:sp>
          <p:nvSpPr>
            <p:cNvPr id="1202" name="Text background: 2"/>
            <p:cNvSpPr/>
            <p:nvPr/>
          </p:nvSpPr>
          <p:spPr>
            <a:xfrm>
              <a:off x="2083415" y="1601073"/>
              <a:ext cx="26507" cy="395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3" name="Editable text: 2"/>
            <p:cNvSpPr/>
            <p:nvPr/>
          </p:nvSpPr>
          <p:spPr>
            <a:xfrm>
              <a:off x="2085805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204" name="Text background: 0"/>
            <p:cNvSpPr/>
            <p:nvPr/>
          </p:nvSpPr>
          <p:spPr>
            <a:xfrm>
              <a:off x="1097003" y="1601073"/>
              <a:ext cx="28680" cy="395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5" name="Editable text: 0"/>
            <p:cNvSpPr/>
            <p:nvPr/>
          </p:nvSpPr>
          <p:spPr>
            <a:xfrm>
              <a:off x="1099393" y="1597949"/>
              <a:ext cx="37445" cy="64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06" name="Text background: 1"/>
            <p:cNvSpPr/>
            <p:nvPr/>
          </p:nvSpPr>
          <p:spPr>
            <a:xfrm>
              <a:off x="1592382" y="1601073"/>
              <a:ext cx="19989" cy="395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7" name="Editable text: 1"/>
            <p:cNvSpPr/>
            <p:nvPr/>
          </p:nvSpPr>
          <p:spPr>
            <a:xfrm>
              <a:off x="1594772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08" name="Text background: −Log10(p-value)"/>
            <p:cNvSpPr/>
            <p:nvPr/>
          </p:nvSpPr>
          <p:spPr>
            <a:xfrm>
              <a:off x="1614109" y="1651045"/>
              <a:ext cx="408905" cy="656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9" name="Editable text: −Log10(p-value)"/>
            <p:cNvSpPr/>
            <p:nvPr/>
          </p:nvSpPr>
          <p:spPr>
            <a:xfrm>
              <a:off x="1616499" y="1647907"/>
              <a:ext cx="414988" cy="7463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3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42711-FDCD-84E9-A0BB-F8F72738A823}"/>
              </a:ext>
            </a:extLst>
          </p:cNvPr>
          <p:cNvSpPr txBox="1"/>
          <p:nvPr/>
        </p:nvSpPr>
        <p:spPr>
          <a:xfrm>
            <a:off x="114298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511AB1C-14C4-CD01-7B02-1F86C49A62F3}"/>
              </a:ext>
            </a:extLst>
          </p:cNvPr>
          <p:cNvSpPr txBox="1"/>
          <p:nvPr/>
        </p:nvSpPr>
        <p:spPr>
          <a:xfrm>
            <a:off x="267323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AE729E8-B280-35A1-6FF6-5B0D29A8BF5D}"/>
              </a:ext>
            </a:extLst>
          </p:cNvPr>
          <p:cNvSpPr txBox="1"/>
          <p:nvPr/>
        </p:nvSpPr>
        <p:spPr>
          <a:xfrm>
            <a:off x="491584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7367AB07-A100-2B5A-588A-C173534BC3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4472" y="4675543"/>
            <a:ext cx="1998016" cy="1842730"/>
          </a:xfrm>
          <a:prstGeom prst="rect">
            <a:avLst/>
          </a:prstGeom>
        </p:spPr>
      </p:pic>
      <p:grpSp>
        <p:nvGrpSpPr>
          <p:cNvPr id="1210" name="Editable text overlays for image9.png"/>
          <p:cNvGrpSpPr/>
          <p:nvPr/>
        </p:nvGrpSpPr>
        <p:grpSpPr>
          <a:xfrm>
            <a:off x="2874472" y="4675543"/>
            <a:ext cx="1998016" cy="1842730"/>
            <a:chOff x="0" y="0"/>
            <a:chExt cx="1998016" cy="1842730"/>
          </a:xfrm>
        </p:grpSpPr>
        <p:sp>
          <p:nvSpPr>
            <p:cNvPr id="1211" name="Text background: Arginine and proline metabolism"/>
            <p:cNvSpPr/>
            <p:nvPr/>
          </p:nvSpPr>
          <p:spPr>
            <a:xfrm>
              <a:off x="991934" y="53315"/>
              <a:ext cx="562826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2" name="Editable text: Arginine and proline metabolism"/>
            <p:cNvSpPr/>
            <p:nvPr/>
          </p:nvSpPr>
          <p:spPr>
            <a:xfrm>
              <a:off x="994027" y="50714"/>
              <a:ext cx="575664" cy="528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213" name="Text background: Serotonin receptor agonists/antagonists"/>
            <p:cNvSpPr/>
            <p:nvPr/>
          </p:nvSpPr>
          <p:spPr>
            <a:xfrm>
              <a:off x="110253" y="317302"/>
              <a:ext cx="693957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4" name="Editable text: Serotonin receptor agonists/antagonists"/>
            <p:cNvSpPr/>
            <p:nvPr/>
          </p:nvSpPr>
          <p:spPr>
            <a:xfrm>
              <a:off x="112151" y="315345"/>
              <a:ext cx="698788" cy="520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215" name="Text background: cAMP signaling pathway"/>
            <p:cNvSpPr/>
            <p:nvPr/>
          </p:nvSpPr>
          <p:spPr>
            <a:xfrm>
              <a:off x="482940" y="396670"/>
              <a:ext cx="429970" cy="417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6" name="Editable text: cAMP signaling pathway"/>
            <p:cNvSpPr/>
            <p:nvPr/>
          </p:nvSpPr>
          <p:spPr>
            <a:xfrm>
              <a:off x="484838" y="394061"/>
              <a:ext cx="440328" cy="529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217" name="Text background: Gap junction"/>
            <p:cNvSpPr/>
            <p:nvPr/>
          </p:nvSpPr>
          <p:spPr>
            <a:xfrm>
              <a:off x="179269" y="501920"/>
              <a:ext cx="219471" cy="43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8" name="Editable text: Gap junction"/>
            <p:cNvSpPr/>
            <p:nvPr/>
          </p:nvSpPr>
          <p:spPr>
            <a:xfrm>
              <a:off x="181167" y="499784"/>
              <a:ext cx="224302" cy="518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219" name="Text background: number of genes"/>
            <p:cNvSpPr/>
            <p:nvPr/>
          </p:nvSpPr>
          <p:spPr>
            <a:xfrm>
              <a:off x="1764914" y="579563"/>
              <a:ext cx="212570" cy="296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0" name="Editable text: number of genes"/>
            <p:cNvSpPr/>
            <p:nvPr/>
          </p:nvSpPr>
          <p:spPr>
            <a:xfrm>
              <a:off x="1766812" y="578554"/>
              <a:ext cx="217401" cy="373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1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number of genes</a:t>
              </a:r>
            </a:p>
          </p:txBody>
        </p:sp>
        <p:sp>
          <p:nvSpPr>
            <p:cNvPr id="1221" name="Text background: Thermogenesis"/>
            <p:cNvSpPr/>
            <p:nvPr/>
          </p:nvSpPr>
          <p:spPr>
            <a:xfrm>
              <a:off x="1276625" y="600268"/>
              <a:ext cx="274684" cy="43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2" name="Editable text: Thermogenesis"/>
            <p:cNvSpPr/>
            <p:nvPr/>
          </p:nvSpPr>
          <p:spPr>
            <a:xfrm>
              <a:off x="1278523" y="597644"/>
              <a:ext cx="282184" cy="5307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223" name="Text background: 1"/>
            <p:cNvSpPr/>
            <p:nvPr/>
          </p:nvSpPr>
          <p:spPr>
            <a:xfrm>
              <a:off x="1842557" y="631325"/>
              <a:ext cx="12423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4" name="Editable text: 1"/>
            <p:cNvSpPr/>
            <p:nvPr/>
          </p:nvSpPr>
          <p:spPr>
            <a:xfrm>
              <a:off x="1844455" y="629893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8" b="0" dirty="0">
                  <a:solidFill>
                    <a:srgbClr val="0f0f0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25" name="Text background: Synaptic vesicle cycle"/>
            <p:cNvSpPr/>
            <p:nvPr/>
          </p:nvSpPr>
          <p:spPr>
            <a:xfrm>
              <a:off x="277617" y="636501"/>
              <a:ext cx="383384" cy="53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6" name="Editable text: Synaptic vesicle cycle"/>
            <p:cNvSpPr/>
            <p:nvPr/>
          </p:nvSpPr>
          <p:spPr>
            <a:xfrm>
              <a:off x="279515" y="634301"/>
              <a:ext cx="394659" cy="5269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227" name="Text background: 2"/>
            <p:cNvSpPr/>
            <p:nvPr/>
          </p:nvSpPr>
          <p:spPr>
            <a:xfrm>
              <a:off x="1842557" y="679636"/>
              <a:ext cx="15874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8" name="Editable text: 2"/>
            <p:cNvSpPr/>
            <p:nvPr/>
          </p:nvSpPr>
          <p:spPr>
            <a:xfrm>
              <a:off x="1844455" y="678204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229" name="Text background: 3"/>
            <p:cNvSpPr/>
            <p:nvPr/>
          </p:nvSpPr>
          <p:spPr>
            <a:xfrm>
              <a:off x="1842557" y="727947"/>
              <a:ext cx="15874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0" name="Editable text: 3"/>
            <p:cNvSpPr/>
            <p:nvPr/>
          </p:nvSpPr>
          <p:spPr>
            <a:xfrm>
              <a:off x="1844455" y="726561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20202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231" name="Text background: 4"/>
            <p:cNvSpPr/>
            <p:nvPr/>
          </p:nvSpPr>
          <p:spPr>
            <a:xfrm>
              <a:off x="1842557" y="781435"/>
              <a:ext cx="15874" cy="22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2" name="Editable text: 4"/>
            <p:cNvSpPr/>
            <p:nvPr/>
          </p:nvSpPr>
          <p:spPr>
            <a:xfrm>
              <a:off x="1844455" y="780280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233" name="Text background: 5"/>
            <p:cNvSpPr/>
            <p:nvPr/>
          </p:nvSpPr>
          <p:spPr>
            <a:xfrm>
              <a:off x="1842557" y="840098"/>
              <a:ext cx="15874" cy="22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4" name="Editable text: 5"/>
            <p:cNvSpPr/>
            <p:nvPr/>
          </p:nvSpPr>
          <p:spPr>
            <a:xfrm>
              <a:off x="1844455" y="838678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235" name="Text background: 6"/>
            <p:cNvSpPr/>
            <p:nvPr/>
          </p:nvSpPr>
          <p:spPr>
            <a:xfrm>
              <a:off x="1842557" y="898762"/>
              <a:ext cx="15874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6" name="Editable text: 6"/>
            <p:cNvSpPr/>
            <p:nvPr/>
          </p:nvSpPr>
          <p:spPr>
            <a:xfrm>
              <a:off x="1844455" y="897376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237" name="Text background: Bile secretion"/>
            <p:cNvSpPr/>
            <p:nvPr/>
          </p:nvSpPr>
          <p:spPr>
            <a:xfrm>
              <a:off x="809041" y="897037"/>
              <a:ext cx="235000" cy="33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8" name="Editable text: Bile secretion"/>
            <p:cNvSpPr/>
            <p:nvPr/>
          </p:nvSpPr>
          <p:spPr>
            <a:xfrm>
              <a:off x="810939" y="894507"/>
              <a:ext cx="239831" cy="5197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239" name="Text background: pvalue"/>
            <p:cNvSpPr/>
            <p:nvPr/>
          </p:nvSpPr>
          <p:spPr>
            <a:xfrm>
              <a:off x="1764914" y="1005737"/>
              <a:ext cx="83164" cy="31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0" name="Editable text: pvalue"/>
            <p:cNvSpPr/>
            <p:nvPr/>
          </p:nvSpPr>
          <p:spPr>
            <a:xfrm>
              <a:off x="1766812" y="1004536"/>
              <a:ext cx="90044" cy="363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pvalue</a:t>
              </a:r>
            </a:p>
          </p:txBody>
        </p:sp>
        <p:sp>
          <p:nvSpPr>
            <p:cNvPr id="1241" name="Text background: Pentose and glucuronate interconversions"/>
            <p:cNvSpPr/>
            <p:nvPr/>
          </p:nvSpPr>
          <p:spPr>
            <a:xfrm>
              <a:off x="897037" y="1000561"/>
              <a:ext cx="731916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2" name="Editable text: Pentose and glucuronate interconversions"/>
            <p:cNvSpPr/>
            <p:nvPr/>
          </p:nvSpPr>
          <p:spPr>
            <a:xfrm>
              <a:off x="898935" y="997976"/>
              <a:ext cx="750065" cy="5262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243" name="Text background: Steroid hormone biosynthesis"/>
            <p:cNvSpPr/>
            <p:nvPr/>
          </p:nvSpPr>
          <p:spPr>
            <a:xfrm>
              <a:off x="92999" y="1045421"/>
              <a:ext cx="519691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4" name="Editable text: Steroid hormone biosynthesis"/>
            <p:cNvSpPr/>
            <p:nvPr/>
          </p:nvSpPr>
          <p:spPr>
            <a:xfrm>
              <a:off x="94897" y="1043250"/>
              <a:ext cx="524522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245" name="Text background: Primary bile acid biosynthesis"/>
            <p:cNvSpPr/>
            <p:nvPr/>
          </p:nvSpPr>
          <p:spPr>
            <a:xfrm>
              <a:off x="938446" y="1286978"/>
              <a:ext cx="519691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6" name="Editable text: Primary bile acid biosynthesis"/>
            <p:cNvSpPr/>
            <p:nvPr/>
          </p:nvSpPr>
          <p:spPr>
            <a:xfrm>
              <a:off x="940344" y="1284371"/>
              <a:ext cx="531424" cy="5288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247" name="Text background: Secondary bile acid biosynthesis"/>
            <p:cNvSpPr/>
            <p:nvPr/>
          </p:nvSpPr>
          <p:spPr>
            <a:xfrm>
              <a:off x="686538" y="1343916"/>
              <a:ext cx="573179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8" name="Editable text: Secondary bile acid biosynthesis"/>
            <p:cNvSpPr/>
            <p:nvPr/>
          </p:nvSpPr>
          <p:spPr>
            <a:xfrm>
              <a:off x="688436" y="1341745"/>
              <a:ext cx="578010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249" name="Text background: Cholesterol metabolism"/>
            <p:cNvSpPr/>
            <p:nvPr/>
          </p:nvSpPr>
          <p:spPr>
            <a:xfrm>
              <a:off x="985032" y="1476772"/>
              <a:ext cx="412716" cy="33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0" name="Editable text: Cholesterol metabolism"/>
            <p:cNvSpPr/>
            <p:nvPr/>
          </p:nvSpPr>
          <p:spPr>
            <a:xfrm>
              <a:off x="986930" y="1474561"/>
              <a:ext cx="423344" cy="5282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251" name="Text background: Folate transport and metabolism"/>
            <p:cNvSpPr/>
            <p:nvPr/>
          </p:nvSpPr>
          <p:spPr>
            <a:xfrm>
              <a:off x="203425" y="1582021"/>
              <a:ext cx="590433" cy="400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2" name="Editable text: Folate transport and metabolism"/>
            <p:cNvSpPr/>
            <p:nvPr/>
          </p:nvSpPr>
          <p:spPr>
            <a:xfrm>
              <a:off x="205323" y="1579365"/>
              <a:ext cx="595264" cy="5345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253" name="Text background: Choline metabolism in cancer"/>
            <p:cNvSpPr/>
            <p:nvPr/>
          </p:nvSpPr>
          <p:spPr>
            <a:xfrm>
              <a:off x="218954" y="1725230"/>
              <a:ext cx="517966" cy="33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4" name="Editable text: Choline metabolism in cancer"/>
            <p:cNvSpPr/>
            <p:nvPr/>
          </p:nvSpPr>
          <p:spPr>
            <a:xfrm>
              <a:off x="220852" y="1723018"/>
              <a:ext cx="529267" cy="5284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255" name="Text background: 0.04"/>
            <p:cNvSpPr/>
            <p:nvPr/>
          </p:nvSpPr>
          <p:spPr>
            <a:xfrm>
              <a:off x="1827029" y="1071302"/>
              <a:ext cx="55558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6" name="Editable text: 0.04"/>
            <p:cNvSpPr/>
            <p:nvPr/>
          </p:nvSpPr>
          <p:spPr>
            <a:xfrm>
              <a:off x="1828927" y="1069916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0.04</a:t>
              </a:r>
            </a:p>
          </p:txBody>
        </p:sp>
        <p:sp>
          <p:nvSpPr>
            <p:cNvPr id="1257" name="Text background: 0.03"/>
            <p:cNvSpPr/>
            <p:nvPr/>
          </p:nvSpPr>
          <p:spPr>
            <a:xfrm>
              <a:off x="1827029" y="1123064"/>
              <a:ext cx="55558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8" name="Editable text: 0.03"/>
            <p:cNvSpPr/>
            <p:nvPr/>
          </p:nvSpPr>
          <p:spPr>
            <a:xfrm>
              <a:off x="1828927" y="1121678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0.03</a:t>
              </a:r>
            </a:p>
          </p:txBody>
        </p:sp>
        <p:sp>
          <p:nvSpPr>
            <p:cNvPr id="1259" name="Text background: 0.02"/>
            <p:cNvSpPr/>
            <p:nvPr/>
          </p:nvSpPr>
          <p:spPr>
            <a:xfrm>
              <a:off x="1827029" y="1173101"/>
              <a:ext cx="55558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0" name="Editable text: 0.02"/>
            <p:cNvSpPr/>
            <p:nvPr/>
          </p:nvSpPr>
          <p:spPr>
            <a:xfrm>
              <a:off x="1828927" y="1171715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</a:t>
              </a:r>
            </a:p>
          </p:txBody>
        </p:sp>
        <p:sp>
          <p:nvSpPr>
            <p:cNvPr id="1261" name="Text background: 0.01"/>
            <p:cNvSpPr/>
            <p:nvPr/>
          </p:nvSpPr>
          <p:spPr>
            <a:xfrm>
              <a:off x="1827029" y="1224863"/>
              <a:ext cx="52107" cy="245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2" name="Editable text: 0.01"/>
            <p:cNvSpPr/>
            <p:nvPr/>
          </p:nvSpPr>
          <p:spPr>
            <a:xfrm>
              <a:off x="1828927" y="1223477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671AE27-B4E4-1FB5-12E8-D811FEDA90A2}"/>
              </a:ext>
            </a:extLst>
          </p:cNvPr>
          <p:cNvSpPr txBox="1"/>
          <p:nvPr/>
        </p:nvSpPr>
        <p:spPr>
          <a:xfrm>
            <a:off x="2673235" y="457869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16E3B4D-22BA-FC4A-A6B1-0AB9A27B446C}"/>
              </a:ext>
            </a:extLst>
          </p:cNvPr>
          <p:cNvSpPr txBox="1"/>
          <p:nvPr/>
        </p:nvSpPr>
        <p:spPr>
          <a:xfrm>
            <a:off x="4810847" y="4579334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C3DD3F81-20BF-D265-D6A1-8A5DCC125E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6863" y="4692969"/>
            <a:ext cx="1998016" cy="1985153"/>
          </a:xfrm>
          <a:prstGeom prst="rect">
            <a:avLst/>
          </a:prstGeom>
        </p:spPr>
      </p:pic>
      <p:grpSp>
        <p:nvGrpSpPr>
          <p:cNvPr id="1263" name="Editable text overlays for image10.png"/>
          <p:cNvGrpSpPr/>
          <p:nvPr/>
        </p:nvGrpSpPr>
        <p:grpSpPr>
          <a:xfrm>
            <a:off x="5126863" y="4692969"/>
            <a:ext cx="1998016" cy="1985153"/>
            <a:chOff x="0" y="0"/>
            <a:chExt cx="1998016" cy="1985153"/>
          </a:xfrm>
        </p:grpSpPr>
        <p:sp>
          <p:nvSpPr>
            <p:cNvPr id="1264" name="Text background: Bile secretion"/>
            <p:cNvSpPr/>
            <p:nvPr/>
          </p:nvSpPr>
          <p:spPr>
            <a:xfrm>
              <a:off x="670793" y="44805"/>
              <a:ext cx="251253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5" name="Editable text: Bile secretion"/>
            <p:cNvSpPr/>
            <p:nvPr/>
          </p:nvSpPr>
          <p:spPr>
            <a:xfrm>
              <a:off x="673151" y="42442"/>
              <a:ext cx="257255" cy="5542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266" name="Text background: Primary bile acid biosynthesis"/>
            <p:cNvSpPr/>
            <p:nvPr/>
          </p:nvSpPr>
          <p:spPr>
            <a:xfrm>
              <a:off x="670793" y="104832"/>
              <a:ext cx="553528" cy="4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7" name="Editable text: Primary bile acid biosynthesis"/>
            <p:cNvSpPr/>
            <p:nvPr/>
          </p:nvSpPr>
          <p:spPr>
            <a:xfrm>
              <a:off x="673151" y="102397"/>
              <a:ext cx="559530" cy="5625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268" name="Text background: Secondary bile acid biosynthesis"/>
            <p:cNvSpPr/>
            <p:nvPr/>
          </p:nvSpPr>
          <p:spPr>
            <a:xfrm>
              <a:off x="670793" y="164858"/>
              <a:ext cx="609266" cy="4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9" name="Editable text: Secondary bile acid biosynthesis"/>
            <p:cNvSpPr/>
            <p:nvPr/>
          </p:nvSpPr>
          <p:spPr>
            <a:xfrm>
              <a:off x="673151" y="162841"/>
              <a:ext cx="615269" cy="5624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270" name="Text background: -0.25"/>
            <p:cNvSpPr/>
            <p:nvPr/>
          </p:nvSpPr>
          <p:spPr>
            <a:xfrm>
              <a:off x="113407" y="368518"/>
              <a:ext cx="81893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1" name="Editable text: -0.25"/>
            <p:cNvSpPr/>
            <p:nvPr/>
          </p:nvSpPr>
          <p:spPr>
            <a:xfrm>
              <a:off x="115765" y="36611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-0.25</a:t>
              </a:r>
            </a:p>
          </p:txBody>
        </p:sp>
        <p:sp>
          <p:nvSpPr>
            <p:cNvPr id="1272" name="Text background: -0.50"/>
            <p:cNvSpPr/>
            <p:nvPr/>
          </p:nvSpPr>
          <p:spPr>
            <a:xfrm>
              <a:off x="113407" y="634349"/>
              <a:ext cx="84037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3" name="Editable text: -0.50"/>
            <p:cNvSpPr/>
            <p:nvPr/>
          </p:nvSpPr>
          <p:spPr>
            <a:xfrm>
              <a:off x="115765" y="63194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-0.50</a:t>
              </a:r>
            </a:p>
          </p:txBody>
        </p:sp>
        <p:sp>
          <p:nvSpPr>
            <p:cNvPr id="1274" name="Text background: -0.75"/>
            <p:cNvSpPr/>
            <p:nvPr/>
          </p:nvSpPr>
          <p:spPr>
            <a:xfrm>
              <a:off x="113407" y="902323"/>
              <a:ext cx="81893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5" name="Editable text: -0.75"/>
            <p:cNvSpPr/>
            <p:nvPr/>
          </p:nvSpPr>
          <p:spPr>
            <a:xfrm>
              <a:off x="115765" y="899920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-0.75</a:t>
              </a:r>
            </a:p>
          </p:txBody>
        </p:sp>
        <p:sp>
          <p:nvSpPr>
            <p:cNvPr id="1276" name="Text background: 4"/>
            <p:cNvSpPr/>
            <p:nvPr/>
          </p:nvSpPr>
          <p:spPr>
            <a:xfrm>
              <a:off x="173433" y="1496154"/>
              <a:ext cx="21867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7" name="Editable text: 4"/>
            <p:cNvSpPr/>
            <p:nvPr/>
          </p:nvSpPr>
          <p:spPr>
            <a:xfrm>
              <a:off x="175791" y="1493685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278" name="Text background: 2"/>
            <p:cNvSpPr/>
            <p:nvPr/>
          </p:nvSpPr>
          <p:spPr>
            <a:xfrm>
              <a:off x="173433" y="1581906"/>
              <a:ext cx="21867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9" name="Editable text: 2"/>
            <p:cNvSpPr/>
            <p:nvPr/>
          </p:nvSpPr>
          <p:spPr>
            <a:xfrm>
              <a:off x="175791" y="1579436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280" name="Text background: 0"/>
            <p:cNvSpPr/>
            <p:nvPr/>
          </p:nvSpPr>
          <p:spPr>
            <a:xfrm>
              <a:off x="171289" y="1667657"/>
              <a:ext cx="26154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1" name="Editable text: 0"/>
            <p:cNvSpPr/>
            <p:nvPr/>
          </p:nvSpPr>
          <p:spPr>
            <a:xfrm>
              <a:off x="173647" y="1665255"/>
              <a:ext cx="33363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82" name="Text background: -2"/>
            <p:cNvSpPr/>
            <p:nvPr/>
          </p:nvSpPr>
          <p:spPr>
            <a:xfrm>
              <a:off x="149851" y="1753409"/>
              <a:ext cx="45448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3" name="Editable text: -2"/>
            <p:cNvSpPr/>
            <p:nvPr/>
          </p:nvSpPr>
          <p:spPr>
            <a:xfrm>
              <a:off x="152209" y="1750940"/>
              <a:ext cx="51451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284" name="Text background: 50"/>
            <p:cNvSpPr/>
            <p:nvPr/>
          </p:nvSpPr>
          <p:spPr>
            <a:xfrm>
              <a:off x="537878" y="1858455"/>
              <a:ext cx="47592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5" name="Editable text: 50"/>
            <p:cNvSpPr/>
            <p:nvPr/>
          </p:nvSpPr>
          <p:spPr>
            <a:xfrm>
              <a:off x="540236" y="1856052"/>
              <a:ext cx="56007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286" name="Text background: 150"/>
            <p:cNvSpPr/>
            <p:nvPr/>
          </p:nvSpPr>
          <p:spPr>
            <a:xfrm>
              <a:off x="1223892" y="1858455"/>
              <a:ext cx="69030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7" name="Editable text: 150"/>
            <p:cNvSpPr/>
            <p:nvPr/>
          </p:nvSpPr>
          <p:spPr>
            <a:xfrm>
              <a:off x="1226250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288" name="Text background: 200"/>
            <p:cNvSpPr/>
            <p:nvPr/>
          </p:nvSpPr>
          <p:spPr>
            <a:xfrm>
              <a:off x="1571187" y="1858455"/>
              <a:ext cx="71174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9" name="Editable text: 200"/>
            <p:cNvSpPr/>
            <p:nvPr/>
          </p:nvSpPr>
          <p:spPr>
            <a:xfrm>
              <a:off x="1573545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290" name="Text background: 100"/>
            <p:cNvSpPr/>
            <p:nvPr/>
          </p:nvSpPr>
          <p:spPr>
            <a:xfrm>
              <a:off x="876597" y="1858455"/>
              <a:ext cx="69030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1" name="Editable text: 100"/>
            <p:cNvSpPr/>
            <p:nvPr/>
          </p:nvSpPr>
          <p:spPr>
            <a:xfrm>
              <a:off x="878956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292" name="Text background: 250"/>
            <p:cNvSpPr/>
            <p:nvPr/>
          </p:nvSpPr>
          <p:spPr>
            <a:xfrm>
              <a:off x="1918481" y="1858455"/>
              <a:ext cx="71174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3" name="Editable text: 250"/>
            <p:cNvSpPr/>
            <p:nvPr/>
          </p:nvSpPr>
          <p:spPr>
            <a:xfrm>
              <a:off x="1920839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294" name="Text background: Rank in Ordered Dataset"/>
            <p:cNvSpPr/>
            <p:nvPr/>
          </p:nvSpPr>
          <p:spPr>
            <a:xfrm>
              <a:off x="803708" y="1907762"/>
              <a:ext cx="579253" cy="433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5" name="Editable text: Rank in Ordered Dataset"/>
            <p:cNvSpPr/>
            <p:nvPr/>
          </p:nvSpPr>
          <p:spPr>
            <a:xfrm>
              <a:off x="806067" y="1904666"/>
              <a:ext cx="585256" cy="7012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296" name="Text background: Running Enrichment Score"/>
            <p:cNvSpPr/>
            <p:nvPr/>
          </p:nvSpPr>
          <p:spPr>
            <a:xfrm rot="16200000">
              <a:off x="25511" y="250610"/>
              <a:ext cx="58311" cy="6242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7" name="Editable text: Running Enrichment Score"/>
            <p:cNvSpPr/>
            <p:nvPr/>
          </p:nvSpPr>
          <p:spPr>
            <a:xfrm rot="16200000">
              <a:off x="-260471" y="527750"/>
              <a:ext cx="630275" cy="699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298" name="Text background: Ranked List Metric"/>
            <p:cNvSpPr/>
            <p:nvPr/>
          </p:nvSpPr>
          <p:spPr>
            <a:xfrm rot="16200000">
              <a:off x="25511" y="1442559"/>
              <a:ext cx="43305" cy="429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9" name="Editable text: Ranked List Metric"/>
            <p:cNvSpPr/>
            <p:nvPr/>
          </p:nvSpPr>
          <p:spPr>
            <a:xfrm rot="16200000">
              <a:off x="-171219" y="1622549"/>
              <a:ext cx="436765" cy="6920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300" name="Text background: 0.00"/>
            <p:cNvSpPr/>
            <p:nvPr/>
          </p:nvSpPr>
          <p:spPr>
            <a:xfrm>
              <a:off x="113407" y="100544"/>
              <a:ext cx="84037" cy="347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1" name="Editable text: 0.00"/>
            <p:cNvSpPr/>
            <p:nvPr/>
          </p:nvSpPr>
          <p:spPr>
            <a:xfrm>
              <a:off x="115765" y="98141"/>
              <a:ext cx="900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603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2857</TotalTime>
  <Words>26</Words>
  <Application>Microsoft Macintosh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鑫业 张</cp:lastModifiedBy>
  <cp:revision>34</cp:revision>
  <dcterms:created xsi:type="dcterms:W3CDTF">2025-12-11T01:24:21Z</dcterms:created>
  <dcterms:modified xsi:type="dcterms:W3CDTF">2026-10-20T13:13:35Z</dcterms:modified>
</cp:coreProperties>
</file>