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2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5DA"/>
    <a:srgbClr val="6DD3EE"/>
    <a:srgbClr val="E37832"/>
    <a:srgbClr val="A2C4E2"/>
    <a:srgbClr val="F0B993"/>
    <a:srgbClr val="A7CF8C"/>
    <a:srgbClr val="6DA646"/>
    <a:srgbClr val="5593C9"/>
    <a:srgbClr val="78AB40"/>
    <a:srgbClr val="D85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133"/>
    <p:restoredTop sz="95728"/>
  </p:normalViewPr>
  <p:slideViewPr>
    <p:cSldViewPr snapToGrid="0">
      <p:cViewPr varScale="1">
        <p:scale>
          <a:sx n="14" d="100"/>
          <a:sy n="14" d="100"/>
        </p:scale>
        <p:origin x="176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23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4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4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16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925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6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190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2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5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82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97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Arial"/>
          <a:ea typeface="Arial"/>
          <a:cs typeface="Arial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Arial"/>
          <a:ea typeface="Arial"/>
          <a:cs typeface="Arial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Arial"/>
          <a:ea typeface="Arial"/>
          <a:cs typeface="Arial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>
            <a:extLst>
              <a:ext uri="{FF2B5EF4-FFF2-40B4-BE49-F238E27FC236}">
                <a16:creationId xmlns:a16="http://schemas.microsoft.com/office/drawing/2014/main" id="{E3E21358-3234-51CC-E430-F9FB35B09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2" y="4797483"/>
            <a:ext cx="2581185" cy="1720790"/>
          </a:xfrm>
          <a:prstGeom prst="rect">
            <a:avLst/>
          </a:prstGeom>
        </p:spPr>
      </p:pic>
      <p:grpSp>
        <p:nvGrpSpPr>
          <p:cNvPr id="1000" name="Editable text overlays for image1.png"/>
          <p:cNvGrpSpPr/>
          <p:nvPr/>
        </p:nvGrpSpPr>
        <p:grpSpPr>
          <a:xfrm>
            <a:off x="155032" y="4797483"/>
            <a:ext cx="2581185" cy="1720790"/>
            <a:chOff x="0" y="0"/>
            <a:chExt cx="2581185" cy="1720790"/>
          </a:xfrm>
        </p:grpSpPr>
        <p:sp>
          <p:nvSpPr>
            <p:cNvPr id="1001" name="Editable text: Bile secretion"/>
            <p:cNvSpPr/>
            <p:nvPr/>
          </p:nvSpPr>
          <p:spPr>
            <a:xfrm>
              <a:off x="681855" y="54108"/>
              <a:ext cx="294353" cy="63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002" name="Editable text: Cholesterol metabolism"/>
            <p:cNvSpPr/>
            <p:nvPr/>
          </p:nvSpPr>
          <p:spPr>
            <a:xfrm>
              <a:off x="467606" y="165050"/>
              <a:ext cx="506077" cy="6414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1003" name="Editable text: Steroid hormone biosynthesis"/>
            <p:cNvSpPr/>
            <p:nvPr/>
          </p:nvSpPr>
          <p:spPr>
            <a:xfrm>
              <a:off x="336676" y="275563"/>
              <a:ext cx="635944" cy="642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1004" name="Editable text: Serotonin receptor agonists/antagonists"/>
            <p:cNvSpPr/>
            <p:nvPr/>
          </p:nvSpPr>
          <p:spPr>
            <a:xfrm>
              <a:off x="124128" y="384622"/>
              <a:ext cx="848492" cy="643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1005" name="Editable text: Secondary bile acid biosynthesis"/>
            <p:cNvSpPr/>
            <p:nvPr/>
          </p:nvSpPr>
          <p:spPr>
            <a:xfrm>
              <a:off x="272062" y="494905"/>
              <a:ext cx="700559" cy="6438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006" name="Editable text: Primary bile acid biosynthesis"/>
            <p:cNvSpPr/>
            <p:nvPr/>
          </p:nvSpPr>
          <p:spPr>
            <a:xfrm>
              <a:off x="336676" y="604960"/>
              <a:ext cx="635944" cy="64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007" name="Editable text: Pentose and glucuronate interconversions"/>
            <p:cNvSpPr/>
            <p:nvPr/>
          </p:nvSpPr>
          <p:spPr>
            <a:xfrm>
              <a:off x="79918" y="715520"/>
              <a:ext cx="898043" cy="639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1008" name="Editable text: Arginine and proline metabolism"/>
            <p:cNvSpPr/>
            <p:nvPr/>
          </p:nvSpPr>
          <p:spPr>
            <a:xfrm>
              <a:off x="284202" y="826015"/>
              <a:ext cx="688815" cy="642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1009" name="Editable text: Gap junction"/>
            <p:cNvSpPr/>
            <p:nvPr/>
          </p:nvSpPr>
          <p:spPr>
            <a:xfrm>
              <a:off x="698858" y="937053"/>
              <a:ext cx="275888" cy="6377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1010" name="Editable text: Choline metabolism in cancer"/>
            <p:cNvSpPr/>
            <p:nvPr/>
          </p:nvSpPr>
          <p:spPr>
            <a:xfrm>
              <a:off x="340077" y="1047536"/>
              <a:ext cx="634244" cy="643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1011" name="Editable text: Synaptic vesicle cycle"/>
            <p:cNvSpPr/>
            <p:nvPr/>
          </p:nvSpPr>
          <p:spPr>
            <a:xfrm>
              <a:off x="505014" y="1156406"/>
              <a:ext cx="471618" cy="63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1012" name="Editable text: Folate transport and metabolism"/>
            <p:cNvSpPr/>
            <p:nvPr/>
          </p:nvSpPr>
          <p:spPr>
            <a:xfrm>
              <a:off x="283964" y="1266434"/>
              <a:ext cx="691446" cy="6403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1013" name="Editable text: Thermogenesis"/>
            <p:cNvSpPr/>
            <p:nvPr/>
          </p:nvSpPr>
          <p:spPr>
            <a:xfrm>
              <a:off x="635944" y="1376936"/>
              <a:ext cx="336729" cy="643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1014" name="Editable text: cAMP signaling pathway"/>
            <p:cNvSpPr/>
            <p:nvPr/>
          </p:nvSpPr>
          <p:spPr>
            <a:xfrm>
              <a:off x="447201" y="1487454"/>
              <a:ext cx="527119" cy="643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1015" name="Editable text: 2"/>
            <p:cNvSpPr/>
            <p:nvPr/>
          </p:nvSpPr>
          <p:spPr>
            <a:xfrm>
              <a:off x="1413020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16" name="Editable text: 0"/>
            <p:cNvSpPr/>
            <p:nvPr/>
          </p:nvSpPr>
          <p:spPr>
            <a:xfrm>
              <a:off x="1045737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17" name="Editable text: 6"/>
            <p:cNvSpPr/>
            <p:nvPr/>
          </p:nvSpPr>
          <p:spPr>
            <a:xfrm>
              <a:off x="2142486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18" name="Editable text: 8"/>
            <p:cNvSpPr/>
            <p:nvPr/>
          </p:nvSpPr>
          <p:spPr>
            <a:xfrm>
              <a:off x="2508068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1019" name="Editable text: 4"/>
            <p:cNvSpPr/>
            <p:nvPr/>
          </p:nvSpPr>
          <p:spPr>
            <a:xfrm>
              <a:off x="1776903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20" name="Editable text: −Log10(p-value)"/>
            <p:cNvSpPr/>
            <p:nvPr/>
          </p:nvSpPr>
          <p:spPr>
            <a:xfrm>
              <a:off x="1594961" y="1647215"/>
              <a:ext cx="418773" cy="7505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3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pic>
        <p:nvPicPr>
          <p:cNvPr id="76" name="图片 75">
            <a:extLst>
              <a:ext uri="{FF2B5EF4-FFF2-40B4-BE49-F238E27FC236}">
                <a16:creationId xmlns:a16="http://schemas.microsoft.com/office/drawing/2014/main" id="{A8F19248-9521-D0AB-E19E-CDC837B21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863" y="2586294"/>
            <a:ext cx="2017346" cy="1992396"/>
          </a:xfrm>
          <a:prstGeom prst="rect">
            <a:avLst/>
          </a:prstGeom>
        </p:spPr>
      </p:pic>
      <p:grpSp>
        <p:nvGrpSpPr>
          <p:cNvPr id="1021" name="Editable text overlays for image2.png"/>
          <p:cNvGrpSpPr/>
          <p:nvPr/>
        </p:nvGrpSpPr>
        <p:grpSpPr>
          <a:xfrm>
            <a:off x="5126863" y="2586294"/>
            <a:ext cx="2017346" cy="1992396"/>
            <a:chOff x="0" y="0"/>
            <a:chExt cx="2017346" cy="1992396"/>
          </a:xfrm>
        </p:grpSpPr>
        <p:sp>
          <p:nvSpPr>
            <p:cNvPr id="1022" name="Editable text: Citrate cycle (TCA cycle)"/>
            <p:cNvSpPr/>
            <p:nvPr/>
          </p:nvSpPr>
          <p:spPr>
            <a:xfrm>
              <a:off x="187121" y="29390"/>
              <a:ext cx="693240" cy="844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9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1023" name="Editable text: 4"/>
            <p:cNvSpPr/>
            <p:nvPr/>
          </p:nvSpPr>
          <p:spPr>
            <a:xfrm>
              <a:off x="139004" y="1526244"/>
              <a:ext cx="30714" cy="538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1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24" name="Editable text: 2"/>
            <p:cNvSpPr/>
            <p:nvPr/>
          </p:nvSpPr>
          <p:spPr>
            <a:xfrm>
              <a:off x="139004" y="1606153"/>
              <a:ext cx="32691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25" name="Editable text: 0"/>
            <p:cNvSpPr/>
            <p:nvPr/>
          </p:nvSpPr>
          <p:spPr>
            <a:xfrm>
              <a:off x="137222" y="1688197"/>
              <a:ext cx="31716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26" name="Editable text: -2"/>
            <p:cNvSpPr/>
            <p:nvPr/>
          </p:nvSpPr>
          <p:spPr>
            <a:xfrm>
              <a:off x="115837" y="1770107"/>
              <a:ext cx="49899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027" name="Editable text: 200"/>
            <p:cNvSpPr/>
            <p:nvPr/>
          </p:nvSpPr>
          <p:spPr>
            <a:xfrm>
              <a:off x="1578947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028" name="Editable text: 50"/>
            <p:cNvSpPr/>
            <p:nvPr/>
          </p:nvSpPr>
          <p:spPr>
            <a:xfrm>
              <a:off x="515029" y="1871754"/>
              <a:ext cx="54521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1029" name="Editable text: 250"/>
            <p:cNvSpPr/>
            <p:nvPr/>
          </p:nvSpPr>
          <p:spPr>
            <a:xfrm>
              <a:off x="1938933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1030" name="Editable text: 100"/>
            <p:cNvSpPr/>
            <p:nvPr/>
          </p:nvSpPr>
          <p:spPr>
            <a:xfrm>
              <a:off x="862540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031" name="Editable text: 150"/>
            <p:cNvSpPr/>
            <p:nvPr/>
          </p:nvSpPr>
          <p:spPr>
            <a:xfrm>
              <a:off x="1222526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1032" name="Editable text: Rank in Ordered Dataset"/>
            <p:cNvSpPr/>
            <p:nvPr/>
          </p:nvSpPr>
          <p:spPr>
            <a:xfrm>
              <a:off x="794820" y="1922759"/>
              <a:ext cx="586313" cy="704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1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1033" name="Editable text: Running Enrichment Score"/>
            <p:cNvSpPr/>
            <p:nvPr/>
          </p:nvSpPr>
          <p:spPr>
            <a:xfrm rot="16200000">
              <a:off x="-252168" y="598408"/>
              <a:ext cx="630866" cy="702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1034" name="Editable text: Ranked List Metric"/>
            <p:cNvSpPr/>
            <p:nvPr/>
          </p:nvSpPr>
          <p:spPr>
            <a:xfrm rot="16200000">
              <a:off x="-160501" y="1645660"/>
              <a:ext cx="436839" cy="697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1035" name="Editable text: 0.8"/>
            <p:cNvSpPr/>
            <p:nvPr/>
          </p:nvSpPr>
          <p:spPr>
            <a:xfrm>
              <a:off x="103362" y="196573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0.8</a:t>
              </a:r>
            </a:p>
          </p:txBody>
        </p:sp>
        <p:sp>
          <p:nvSpPr>
            <p:cNvPr id="1036" name="Editable text: 0.6"/>
            <p:cNvSpPr/>
            <p:nvPr/>
          </p:nvSpPr>
          <p:spPr>
            <a:xfrm>
              <a:off x="103362" y="396169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0.6</a:t>
              </a:r>
            </a:p>
          </p:txBody>
        </p:sp>
        <p:sp>
          <p:nvSpPr>
            <p:cNvPr id="1037" name="Editable text: 0.4"/>
            <p:cNvSpPr/>
            <p:nvPr/>
          </p:nvSpPr>
          <p:spPr>
            <a:xfrm>
              <a:off x="103362" y="595765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0.4</a:t>
              </a:r>
            </a:p>
          </p:txBody>
        </p:sp>
        <p:sp>
          <p:nvSpPr>
            <p:cNvPr id="1038" name="Editable text: 0.2"/>
            <p:cNvSpPr/>
            <p:nvPr/>
          </p:nvSpPr>
          <p:spPr>
            <a:xfrm>
              <a:off x="103362" y="795361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0.2</a:t>
              </a:r>
            </a:p>
          </p:txBody>
        </p:sp>
        <p:sp>
          <p:nvSpPr>
            <p:cNvPr id="1039" name="Editable text: 0.0"/>
            <p:cNvSpPr/>
            <p:nvPr/>
          </p:nvSpPr>
          <p:spPr>
            <a:xfrm>
              <a:off x="103362" y="994957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3D33A50-1827-1A26-1A16-C42563D2E9F2}"/>
              </a:ext>
            </a:extLst>
          </p:cNvPr>
          <p:cNvGrpSpPr/>
          <p:nvPr/>
        </p:nvGrpSpPr>
        <p:grpSpPr>
          <a:xfrm>
            <a:off x="2911603" y="2592745"/>
            <a:ext cx="1986539" cy="1853051"/>
            <a:chOff x="4239125" y="2625816"/>
            <a:chExt cx="2374398" cy="2214846"/>
          </a:xfrm>
        </p:grpSpPr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6DCA51D3-8C02-8B1C-F269-A703CB3FE2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109"/>
            <a:stretch/>
          </p:blipFill>
          <p:spPr>
            <a:xfrm>
              <a:off x="4239125" y="2625816"/>
              <a:ext cx="2065279" cy="2214846"/>
            </a:xfrm>
            <a:prstGeom prst="rect">
              <a:avLst/>
            </a:prstGeom>
          </p:spPr>
        </p:pic>
        <p:grpSp>
          <p:nvGrpSpPr>
            <p:cNvPr id="1040" name="Editable text overlays for image3.png"/>
            <p:cNvGrpSpPr/>
            <p:nvPr/>
          </p:nvGrpSpPr>
          <p:grpSpPr>
            <a:xfrm>
              <a:off x="4239125" y="2625816"/>
              <a:ext cx="2065279" cy="2214846"/>
              <a:chOff x="0" y="0"/>
              <a:chExt cx="2065279" cy="2214850"/>
            </a:xfrm>
          </p:grpSpPr>
          <p:sp>
            <p:nvSpPr>
              <p:cNvPr id="1041" name="Editable text: Antineoplastics – alkylating agents"/>
              <p:cNvSpPr/>
              <p:nvPr/>
            </p:nvSpPr>
            <p:spPr>
              <a:xfrm>
                <a:off x="146654" y="27721"/>
                <a:ext cx="853607" cy="730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Antineoplastics – alkylating agents</a:t>
                </a:r>
              </a:p>
            </p:txBody>
          </p:sp>
          <p:sp>
            <p:nvSpPr>
              <p:cNvPr id="1042" name="Editable text: Ascorbate and aldarate metabolism"/>
              <p:cNvSpPr/>
              <p:nvPr/>
            </p:nvSpPr>
            <p:spPr>
              <a:xfrm>
                <a:off x="1205284" y="350195"/>
                <a:ext cx="861331" cy="7298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Ascorbate and aldarate metabolism</a:t>
                </a:r>
              </a:p>
            </p:txBody>
          </p:sp>
          <p:sp>
            <p:nvSpPr>
              <p:cNvPr id="1043" name="Editable text: Citrate cycle (TCA cycle)"/>
              <p:cNvSpPr/>
              <p:nvPr/>
            </p:nvSpPr>
            <p:spPr>
              <a:xfrm>
                <a:off x="1173192" y="450754"/>
                <a:ext cx="598264" cy="7248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Citrate cycle (TCA cycle)</a:t>
                </a:r>
              </a:p>
            </p:txBody>
          </p:sp>
          <p:sp>
            <p:nvSpPr>
              <p:cNvPr id="1044" name="Editable text: Alanine, aspartate and glutamate metabolism"/>
              <p:cNvSpPr/>
              <p:nvPr/>
            </p:nvSpPr>
            <p:spPr>
              <a:xfrm>
                <a:off x="420329" y="572936"/>
                <a:ext cx="1117137" cy="7318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Alanine, aspartate and glutamate metabolism</a:t>
                </a:r>
              </a:p>
            </p:txBody>
          </p:sp>
          <p:sp>
            <p:nvSpPr>
              <p:cNvPr id="1045" name="Editable text: Arginine biosynthesis"/>
              <p:cNvSpPr/>
              <p:nvPr/>
            </p:nvSpPr>
            <p:spPr>
              <a:xfrm>
                <a:off x="1540481" y="600557"/>
                <a:ext cx="519768" cy="7269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4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Arginine biosynthesis</a:t>
                </a:r>
              </a:p>
            </p:txBody>
          </p:sp>
          <p:sp>
            <p:nvSpPr>
              <p:cNvPr id="1046" name="Editable text: Glyoxylate and dicarboxylate metabolism"/>
              <p:cNvSpPr/>
              <p:nvPr/>
            </p:nvSpPr>
            <p:spPr>
              <a:xfrm>
                <a:off x="695853" y="713552"/>
                <a:ext cx="986499" cy="7248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Glyoxylate and dicarboxylate metabolism</a:t>
                </a:r>
              </a:p>
            </p:txBody>
          </p:sp>
          <p:sp>
            <p:nvSpPr>
              <p:cNvPr id="1047" name="Editable text: Glucagon signaling pathway"/>
              <p:cNvSpPr/>
              <p:nvPr/>
            </p:nvSpPr>
            <p:spPr>
              <a:xfrm>
                <a:off x="895275" y="823863"/>
                <a:ext cx="683124" cy="7257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Glucagon signaling pathway</a:t>
                </a:r>
              </a:p>
            </p:txBody>
          </p:sp>
          <p:sp>
            <p:nvSpPr>
              <p:cNvPr id="1048" name="Editable text: Biosynthesis of amino acids"/>
              <p:cNvSpPr/>
              <p:nvPr/>
            </p:nvSpPr>
            <p:spPr>
              <a:xfrm>
                <a:off x="1317454" y="964048"/>
                <a:ext cx="672517" cy="704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11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Biosynthesis of amino acids</a:t>
                </a:r>
              </a:p>
            </p:txBody>
          </p:sp>
          <p:sp>
            <p:nvSpPr>
              <p:cNvPr id="1049" name="Editable text: Phenylalanine metabolism"/>
              <p:cNvSpPr/>
              <p:nvPr/>
            </p:nvSpPr>
            <p:spPr>
              <a:xfrm>
                <a:off x="178206" y="1044078"/>
                <a:ext cx="636451" cy="7121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1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Phenylalanine metabolism</a:t>
                </a:r>
              </a:p>
            </p:txBody>
          </p:sp>
          <p:sp>
            <p:nvSpPr>
              <p:cNvPr id="1050" name="Editable text: NOD-like receptor signaling pathway"/>
              <p:cNvSpPr/>
              <p:nvPr/>
            </p:nvSpPr>
            <p:spPr>
              <a:xfrm>
                <a:off x="952555" y="1330824"/>
                <a:ext cx="905617" cy="73586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NOD-like receptor signaling pathway</a:t>
                </a:r>
              </a:p>
            </p:txBody>
          </p:sp>
          <p:sp>
            <p:nvSpPr>
              <p:cNvPr id="1051" name="Editable text: Cysteine and methionine metabolism"/>
              <p:cNvSpPr/>
              <p:nvPr/>
            </p:nvSpPr>
            <p:spPr>
              <a:xfrm>
                <a:off x="965284" y="1451809"/>
                <a:ext cx="895275" cy="72823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Cysteine and methionine metabolism</a:t>
                </a:r>
              </a:p>
            </p:txBody>
          </p:sp>
          <p:sp>
            <p:nvSpPr>
              <p:cNvPr id="1052" name="Editable text: Tryptophan metabolism"/>
              <p:cNvSpPr/>
              <p:nvPr/>
            </p:nvSpPr>
            <p:spPr>
              <a:xfrm>
                <a:off x="485824" y="2017751"/>
                <a:ext cx="568563" cy="7235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422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Tryptophan metabolism</a:t>
                </a:r>
              </a:p>
            </p:txBody>
          </p:sp>
        </p:grpSp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DDA86AF8-0AB1-3064-E5D7-BFEB55B343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2891" t="35791" r="-2276" b="37859"/>
            <a:stretch/>
          </p:blipFill>
          <p:spPr>
            <a:xfrm>
              <a:off x="6404845" y="3163202"/>
              <a:ext cx="208678" cy="583623"/>
            </a:xfrm>
            <a:prstGeom prst="rect">
              <a:avLst/>
            </a:prstGeom>
          </p:spPr>
        </p:pic>
        <p:grpSp>
          <p:nvGrpSpPr>
            <p:cNvPr id="1053" name="Editable text overlays for image3.png"/>
            <p:cNvGrpSpPr/>
            <p:nvPr/>
          </p:nvGrpSpPr>
          <p:grpSpPr>
            <a:xfrm>
              <a:off x="6404845" y="3163202"/>
              <a:ext cx="208678" cy="583623"/>
              <a:chOff x="2065456" y="792785"/>
              <a:chExt cx="208678" cy="583663"/>
            </a:xfrm>
          </p:grpSpPr>
          <p:sp>
            <p:nvSpPr>
              <p:cNvPr id="1054" name="Editable text: size"/>
              <p:cNvSpPr/>
              <p:nvPr/>
            </p:nvSpPr>
            <p:spPr>
              <a:xfrm>
                <a:off x="2096226" y="936205"/>
                <a:ext cx="82746" cy="4345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5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size</a:t>
                </a:r>
              </a:p>
            </p:txBody>
          </p:sp>
          <p:sp>
            <p:nvSpPr>
              <p:cNvPr id="1055" name="Editable text: 1"/>
              <p:cNvSpPr/>
              <p:nvPr/>
            </p:nvSpPr>
            <p:spPr>
              <a:xfrm>
                <a:off x="2206553" y="1005828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80" b="0" dirty="0">
                    <a:solidFill>
                      <a:srgbClr val="0f0f0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056" name="Editable text: 2"/>
              <p:cNvSpPr/>
              <p:nvPr/>
            </p:nvSpPr>
            <p:spPr>
              <a:xfrm>
                <a:off x="2206553" y="1073721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057" name="Editable text: 3"/>
              <p:cNvSpPr/>
              <p:nvPr/>
            </p:nvSpPr>
            <p:spPr>
              <a:xfrm>
                <a:off x="2206553" y="1145915"/>
                <a:ext cx="30665" cy="4740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7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1058" name="Editable text: 4"/>
              <p:cNvSpPr/>
              <p:nvPr/>
            </p:nvSpPr>
            <p:spPr>
              <a:xfrm>
                <a:off x="2204432" y="1228605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/>
              <a:lstStyle/>
              <a:p>
                <a:pPr algn="l">
                  <a:lnSpc>
                    <a:spcPct val="100000"/>
                  </a:lnSpc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</p:grp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8F40DCCB-83D8-A314-6571-54C2A76EA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599" y="548593"/>
            <a:ext cx="4079425" cy="165525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C0FC19-917A-5DCB-7F33-25F8C4F40584}"/>
              </a:ext>
            </a:extLst>
          </p:cNvPr>
          <p:cNvSpPr txBox="1"/>
          <p:nvPr/>
        </p:nvSpPr>
        <p:spPr>
          <a:xfrm>
            <a:off x="114299" y="15498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97F328-F29B-FDD2-1DCA-8826E7E987AC}"/>
              </a:ext>
            </a:extLst>
          </p:cNvPr>
          <p:cNvSpPr txBox="1"/>
          <p:nvPr/>
        </p:nvSpPr>
        <p:spPr>
          <a:xfrm>
            <a:off x="2317740" y="1549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07796C-A43B-20AE-8D60-B7DBB78D9349}"/>
              </a:ext>
            </a:extLst>
          </p:cNvPr>
          <p:cNvSpPr txBox="1"/>
          <p:nvPr/>
        </p:nvSpPr>
        <p:spPr>
          <a:xfrm>
            <a:off x="148681" y="4590611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8AB97D9-BBFA-71D6-7C36-A9C2B7842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55" y="520761"/>
            <a:ext cx="2359962" cy="1915902"/>
          </a:xfrm>
          <a:prstGeom prst="rect">
            <a:avLst/>
          </a:prstGeom>
        </p:spPr>
      </p:pic>
      <p:grpSp>
        <p:nvGrpSpPr>
          <p:cNvPr id="1059" name="Editable text overlays for image5.png"/>
          <p:cNvGrpSpPr/>
          <p:nvPr/>
        </p:nvGrpSpPr>
        <p:grpSpPr>
          <a:xfrm>
            <a:off x="101355" y="520761"/>
            <a:ext cx="2359962" cy="1915902"/>
            <a:chOff x="0" y="0"/>
            <a:chExt cx="2359962" cy="1915902"/>
          </a:xfrm>
        </p:grpSpPr>
        <p:sp>
          <p:nvSpPr>
            <p:cNvPr id="1060" name="Editable text: 6"/>
            <p:cNvSpPr/>
            <p:nvPr/>
          </p:nvSpPr>
          <p:spPr>
            <a:xfrm>
              <a:off x="155779" y="377500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61" name="Editable text: VIP_Total"/>
            <p:cNvSpPr/>
            <p:nvPr/>
          </p:nvSpPr>
          <p:spPr>
            <a:xfrm>
              <a:off x="2046613" y="452533"/>
              <a:ext cx="268584" cy="6868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VIP_Total</a:t>
              </a:r>
            </a:p>
          </p:txBody>
        </p:sp>
        <p:sp>
          <p:nvSpPr>
            <p:cNvPr id="1062" name="Editable text: 1"/>
            <p:cNvSpPr/>
            <p:nvPr/>
          </p:nvSpPr>
          <p:spPr>
            <a:xfrm>
              <a:off x="2159419" y="551744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63" name="Editable text: 2"/>
            <p:cNvSpPr/>
            <p:nvPr/>
          </p:nvSpPr>
          <p:spPr>
            <a:xfrm>
              <a:off x="2157628" y="628738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64" name="Editable text: −log10 p-value"/>
            <p:cNvSpPr/>
            <p:nvPr/>
          </p:nvSpPr>
          <p:spPr>
            <a:xfrm rot="16200000">
              <a:off x="-132502" y="831332"/>
              <a:ext cx="388552" cy="777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5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 p-value</a:t>
              </a:r>
            </a:p>
          </p:txBody>
        </p:sp>
        <p:sp>
          <p:nvSpPr>
            <p:cNvPr id="1065" name="Editable text: 3"/>
            <p:cNvSpPr/>
            <p:nvPr/>
          </p:nvSpPr>
          <p:spPr>
            <a:xfrm>
              <a:off x="2157628" y="707334"/>
              <a:ext cx="42806" cy="833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8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066" name="Editable text: 4"/>
            <p:cNvSpPr/>
            <p:nvPr/>
          </p:nvSpPr>
          <p:spPr>
            <a:xfrm>
              <a:off x="2157628" y="784517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67" name="Editable text: 4"/>
            <p:cNvSpPr/>
            <p:nvPr/>
          </p:nvSpPr>
          <p:spPr>
            <a:xfrm>
              <a:off x="155779" y="78925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68" name="Editable text: 5"/>
            <p:cNvSpPr/>
            <p:nvPr/>
          </p:nvSpPr>
          <p:spPr>
            <a:xfrm>
              <a:off x="2157628" y="862388"/>
              <a:ext cx="43813" cy="8452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9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069" name="Editable text: change"/>
            <p:cNvSpPr/>
            <p:nvPr/>
          </p:nvSpPr>
          <p:spPr>
            <a:xfrm>
              <a:off x="2046613" y="1002909"/>
              <a:ext cx="208657" cy="818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change</a:t>
              </a:r>
            </a:p>
          </p:txBody>
        </p:sp>
        <p:sp>
          <p:nvSpPr>
            <p:cNvPr id="1070" name="Editable text: Up"/>
            <p:cNvSpPr/>
            <p:nvPr/>
          </p:nvSpPr>
          <p:spPr>
            <a:xfrm>
              <a:off x="2159419" y="1103714"/>
              <a:ext cx="80575" cy="755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4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Up</a:t>
              </a:r>
            </a:p>
          </p:txBody>
        </p:sp>
        <p:sp>
          <p:nvSpPr>
            <p:cNvPr id="1071" name="Editable text: Equals"/>
            <p:cNvSpPr/>
            <p:nvPr/>
          </p:nvSpPr>
          <p:spPr>
            <a:xfrm>
              <a:off x="2159419" y="1180347"/>
              <a:ext cx="189800" cy="7978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Equals</a:t>
              </a:r>
            </a:p>
          </p:txBody>
        </p:sp>
        <p:sp>
          <p:nvSpPr>
            <p:cNvPr id="1072" name="Editable text: 2"/>
            <p:cNvSpPr/>
            <p:nvPr/>
          </p:nvSpPr>
          <p:spPr>
            <a:xfrm>
              <a:off x="157570" y="120287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73" name="Editable text: Down"/>
            <p:cNvSpPr/>
            <p:nvPr/>
          </p:nvSpPr>
          <p:spPr>
            <a:xfrm>
              <a:off x="2159419" y="1257529"/>
              <a:ext cx="155779" cy="775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Down</a:t>
              </a:r>
            </a:p>
          </p:txBody>
        </p:sp>
        <p:sp>
          <p:nvSpPr>
            <p:cNvPr id="1074" name="Editable text: 0"/>
            <p:cNvSpPr/>
            <p:nvPr/>
          </p:nvSpPr>
          <p:spPr>
            <a:xfrm>
              <a:off x="155779" y="1614779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75" name="Editable text: -2"/>
            <p:cNvSpPr/>
            <p:nvPr/>
          </p:nvSpPr>
          <p:spPr>
            <a:xfrm>
              <a:off x="542541" y="1725715"/>
              <a:ext cx="59089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076" name="Editable text: 0"/>
            <p:cNvSpPr/>
            <p:nvPr/>
          </p:nvSpPr>
          <p:spPr>
            <a:xfrm>
              <a:off x="972276" y="1725794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77" name="Editable text: 2"/>
            <p:cNvSpPr/>
            <p:nvPr/>
          </p:nvSpPr>
          <p:spPr>
            <a:xfrm>
              <a:off x="1391267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78" name="Editable text: 4"/>
            <p:cNvSpPr/>
            <p:nvPr/>
          </p:nvSpPr>
          <p:spPr>
            <a:xfrm>
              <a:off x="1808469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79" name="Editable text: log2 Fold Change"/>
            <p:cNvSpPr/>
            <p:nvPr/>
          </p:nvSpPr>
          <p:spPr>
            <a:xfrm>
              <a:off x="854099" y="1821783"/>
              <a:ext cx="489495" cy="820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log2 Fold Change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6B61710F-1EC6-33E8-E5CD-0B3D442CAF62}"/>
              </a:ext>
            </a:extLst>
          </p:cNvPr>
          <p:cNvSpPr txBox="1"/>
          <p:nvPr/>
        </p:nvSpPr>
        <p:spPr>
          <a:xfrm>
            <a:off x="2638106" y="288362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158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2F0A3-591B-553D-A017-883A3D54CECE}"/>
              </a:ext>
            </a:extLst>
          </p:cNvPr>
          <p:cNvSpPr txBox="1"/>
          <p:nvPr/>
        </p:nvSpPr>
        <p:spPr>
          <a:xfrm>
            <a:off x="5886029" y="335294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63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67F51E2-BF4B-C02E-E275-BC593F562F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024" y="565425"/>
            <a:ext cx="316883" cy="1662703"/>
          </a:xfrm>
          <a:prstGeom prst="rect">
            <a:avLst/>
          </a:prstGeom>
        </p:spPr>
      </p:pic>
      <p:grpSp>
        <p:nvGrpSpPr>
          <p:cNvPr id="1080" name="Editable text overlays for image6.png"/>
          <p:cNvGrpSpPr/>
          <p:nvPr/>
        </p:nvGrpSpPr>
        <p:grpSpPr>
          <a:xfrm>
            <a:off x="6650024" y="565425"/>
            <a:ext cx="316883" cy="1662703"/>
            <a:chOff x="0" y="0"/>
            <a:chExt cx="316883" cy="1662704"/>
          </a:xfrm>
        </p:grpSpPr>
        <p:sp>
          <p:nvSpPr>
            <p:cNvPr id="1081" name="Editable text: 6"/>
            <p:cNvSpPr/>
            <p:nvPr/>
          </p:nvSpPr>
          <p:spPr>
            <a:xfrm>
              <a:off x="188266" y="38206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82" name="Editable text: 4"/>
            <p:cNvSpPr/>
            <p:nvPr/>
          </p:nvSpPr>
          <p:spPr>
            <a:xfrm>
              <a:off x="188266" y="278794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83" name="Editable text: 2"/>
            <p:cNvSpPr/>
            <p:nvPr/>
          </p:nvSpPr>
          <p:spPr>
            <a:xfrm>
              <a:off x="188266" y="517389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84" name="Editable text: 0"/>
            <p:cNvSpPr/>
            <p:nvPr/>
          </p:nvSpPr>
          <p:spPr>
            <a:xfrm>
              <a:off x="186402" y="757717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85" name="Editable text: -2"/>
            <p:cNvSpPr/>
            <p:nvPr/>
          </p:nvSpPr>
          <p:spPr>
            <a:xfrm>
              <a:off x="190130" y="998305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086" name="Editable text: -4"/>
            <p:cNvSpPr/>
            <p:nvPr/>
          </p:nvSpPr>
          <p:spPr>
            <a:xfrm>
              <a:off x="190130" y="1236900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-4</a:t>
              </a:r>
            </a:p>
          </p:txBody>
        </p:sp>
        <p:sp>
          <p:nvSpPr>
            <p:cNvPr id="1087" name="Editable text: -6"/>
            <p:cNvSpPr/>
            <p:nvPr/>
          </p:nvSpPr>
          <p:spPr>
            <a:xfrm>
              <a:off x="190130" y="1477228"/>
              <a:ext cx="119297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14318116-31FE-954A-E0B5-5325B390A1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4460" y="574076"/>
            <a:ext cx="500102" cy="424744"/>
          </a:xfrm>
          <a:prstGeom prst="rect">
            <a:avLst/>
          </a:prstGeom>
        </p:spPr>
      </p:pic>
      <p:grpSp>
        <p:nvGrpSpPr>
          <p:cNvPr id="1088" name="Editable text overlays for image7.png"/>
          <p:cNvGrpSpPr/>
          <p:nvPr/>
        </p:nvGrpSpPr>
        <p:grpSpPr>
          <a:xfrm>
            <a:off x="6884460" y="574076"/>
            <a:ext cx="500102" cy="424744"/>
            <a:chOff x="0" y="0"/>
            <a:chExt cx="500102" cy="424744"/>
          </a:xfrm>
        </p:grpSpPr>
        <p:sp>
          <p:nvSpPr>
            <p:cNvPr id="1089" name="Editable text: Group"/>
            <p:cNvSpPr/>
            <p:nvPr/>
          </p:nvSpPr>
          <p:spPr>
            <a:xfrm>
              <a:off x="58231" y="-4813"/>
              <a:ext cx="292868" cy="1279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746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</a:p>
          </p:txBody>
        </p:sp>
        <p:sp>
          <p:nvSpPr>
            <p:cNvPr id="1090" name="Editable text: Contro"/>
            <p:cNvSpPr/>
            <p:nvPr/>
          </p:nvSpPr>
          <p:spPr>
            <a:xfrm>
              <a:off x="227786" y="134334"/>
              <a:ext cx="280986" cy="12254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71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Contro</a:t>
              </a:r>
            </a:p>
          </p:txBody>
        </p:sp>
        <p:sp>
          <p:nvSpPr>
            <p:cNvPr id="1091" name="Editable text: COPD"/>
            <p:cNvSpPr/>
            <p:nvPr/>
          </p:nvSpPr>
          <p:spPr>
            <a:xfrm>
              <a:off x="227786" y="274473"/>
              <a:ext cx="280719" cy="12640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73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COPD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5B75CFA9-5426-7E89-A98C-A1BBFAEF8E57}"/>
              </a:ext>
            </a:extLst>
          </p:cNvPr>
          <p:cNvSpPr/>
          <p:nvPr/>
        </p:nvSpPr>
        <p:spPr>
          <a:xfrm>
            <a:off x="7086409" y="691043"/>
            <a:ext cx="305618" cy="276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DC47EE-AD08-400D-1300-A295D477E28D}"/>
              </a:ext>
            </a:extLst>
          </p:cNvPr>
          <p:cNvSpPr txBox="1"/>
          <p:nvPr/>
        </p:nvSpPr>
        <p:spPr>
          <a:xfrm>
            <a:off x="7022360" y="621832"/>
            <a:ext cx="596638" cy="395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kumimoji="1" lang="en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COPD-PH</a:t>
            </a:r>
            <a:endParaRPr kumimoji="1"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F33258-E06A-69F5-058C-2208354080B3}"/>
              </a:ext>
            </a:extLst>
          </p:cNvPr>
          <p:cNvSpPr/>
          <p:nvPr/>
        </p:nvSpPr>
        <p:spPr>
          <a:xfrm>
            <a:off x="2642170" y="555655"/>
            <a:ext cx="2844000" cy="799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2C4063-B7FB-D04C-33D0-7ABAB69B7270}"/>
              </a:ext>
            </a:extLst>
          </p:cNvPr>
          <p:cNvSpPr/>
          <p:nvPr/>
        </p:nvSpPr>
        <p:spPr>
          <a:xfrm>
            <a:off x="5486169" y="1356386"/>
            <a:ext cx="1152501" cy="828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A3E8260-BFE5-D272-7487-7F1A4DBBE912}"/>
              </a:ext>
            </a:extLst>
          </p:cNvPr>
          <p:cNvSpPr txBox="1"/>
          <p:nvPr/>
        </p:nvSpPr>
        <p:spPr>
          <a:xfrm>
            <a:off x="1237189" y="836011"/>
            <a:ext cx="9509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N-Acetyl-L-methionine</a:t>
            </a:r>
            <a:endParaRPr kumimoji="1"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49AE62A-E859-FC57-68F9-97A26FBE7567}"/>
              </a:ext>
            </a:extLst>
          </p:cNvPr>
          <p:cNvSpPr txBox="1"/>
          <p:nvPr/>
        </p:nvSpPr>
        <p:spPr>
          <a:xfrm>
            <a:off x="1212754" y="568427"/>
            <a:ext cx="5116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L-Cystine</a:t>
            </a:r>
            <a:endParaRPr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D3DB5F9-F68D-4F38-64B8-0D39AE1AB18E}"/>
              </a:ext>
            </a:extLst>
          </p:cNvPr>
          <p:cNvSpPr txBox="1"/>
          <p:nvPr/>
        </p:nvSpPr>
        <p:spPr>
          <a:xfrm>
            <a:off x="1130143" y="687977"/>
            <a:ext cx="9973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5-Hydroxy-L-tryptophan</a:t>
            </a:r>
            <a:endParaRPr lang="zh-CN" altLang="en-US" sz="6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73203BD-5755-9F8C-C225-D0D90B449FC3}"/>
              </a:ext>
            </a:extLst>
          </p:cNvPr>
          <p:cNvSpPr txBox="1"/>
          <p:nvPr/>
        </p:nvSpPr>
        <p:spPr>
          <a:xfrm>
            <a:off x="1219478" y="1032507"/>
            <a:ext cx="7056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Antheraxanthin</a:t>
            </a:r>
            <a:endParaRPr lang="zh-CN" altLang="en-US" sz="600" dirty="0"/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AD9CC897-BD60-38CD-EE0E-C79D921DEBD6}"/>
              </a:ext>
            </a:extLst>
          </p:cNvPr>
          <p:cNvCxnSpPr/>
          <p:nvPr/>
        </p:nvCxnSpPr>
        <p:spPr>
          <a:xfrm flipV="1">
            <a:off x="1219478" y="840186"/>
            <a:ext cx="135314" cy="167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3CA55CE6-3703-5336-ED7C-46BB58A28CFF}"/>
              </a:ext>
            </a:extLst>
          </p:cNvPr>
          <p:cNvCxnSpPr>
            <a:cxnSpLocks/>
          </p:cNvCxnSpPr>
          <p:nvPr/>
        </p:nvCxnSpPr>
        <p:spPr>
          <a:xfrm flipV="1">
            <a:off x="1207905" y="943977"/>
            <a:ext cx="103455" cy="242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963311B-89A8-115D-139F-1CBF1E50092A}"/>
              </a:ext>
            </a:extLst>
          </p:cNvPr>
          <p:cNvSpPr txBox="1"/>
          <p:nvPr/>
        </p:nvSpPr>
        <p:spPr>
          <a:xfrm>
            <a:off x="257425" y="589837"/>
            <a:ext cx="8915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Ketophenylbutazone</a:t>
            </a:r>
            <a:endParaRPr lang="zh-CN" altLang="en-US" dirty="0"/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E71AE196-D634-E94E-0ED7-44430887DCBB}"/>
              </a:ext>
            </a:extLst>
          </p:cNvPr>
          <p:cNvCxnSpPr>
            <a:cxnSpLocks/>
          </p:cNvCxnSpPr>
          <p:nvPr/>
        </p:nvCxnSpPr>
        <p:spPr>
          <a:xfrm flipV="1">
            <a:off x="384346" y="734148"/>
            <a:ext cx="73352" cy="178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E016331-A5E2-324E-D396-278604EC1B7B}"/>
              </a:ext>
            </a:extLst>
          </p:cNvPr>
          <p:cNvSpPr txBox="1"/>
          <p:nvPr/>
        </p:nvSpPr>
        <p:spPr>
          <a:xfrm>
            <a:off x="384346" y="786260"/>
            <a:ext cx="8851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>
                <a:latin typeface="Arial"/>
                <a:ea typeface="Arial"/>
                <a:cs typeface="Arial"/>
              </a:rPr>
              <a:t>Prasterone-3-sulfate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D91C27-1ACC-C3D8-DFD4-839C6F63C8B3}"/>
              </a:ext>
            </a:extLst>
          </p:cNvPr>
          <p:cNvSpPr txBox="1"/>
          <p:nvPr/>
        </p:nvSpPr>
        <p:spPr>
          <a:xfrm>
            <a:off x="214646" y="972207"/>
            <a:ext cx="6383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Sphaerosinin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1427D3C-E23F-B968-5936-56C7D99E6EA8}"/>
              </a:ext>
            </a:extLst>
          </p:cNvPr>
          <p:cNvSpPr txBox="1"/>
          <p:nvPr/>
        </p:nvSpPr>
        <p:spPr>
          <a:xfrm>
            <a:off x="507987" y="320495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Arial"/>
                <a:ea typeface="Arial"/>
                <a:cs typeface="Arial"/>
              </a:rPr>
              <a:t>COPD-PD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vs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Control</a:t>
            </a:r>
            <a:endParaRPr lang="zh-CN" altLang="en-US" dirty="0"/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2C1889E7-2EB3-77EF-BCCB-51374C7100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416" y="2658877"/>
            <a:ext cx="2572493" cy="1720789"/>
          </a:xfrm>
          <a:prstGeom prst="rect">
            <a:avLst/>
          </a:prstGeom>
        </p:spPr>
      </p:pic>
      <p:grpSp>
        <p:nvGrpSpPr>
          <p:cNvPr id="1092" name="Editable text overlays for image8.png"/>
          <p:cNvGrpSpPr/>
          <p:nvPr/>
        </p:nvGrpSpPr>
        <p:grpSpPr>
          <a:xfrm>
            <a:off x="128416" y="2658877"/>
            <a:ext cx="2572493" cy="1720789"/>
            <a:chOff x="0" y="0"/>
            <a:chExt cx="2572493" cy="1720789"/>
          </a:xfrm>
        </p:grpSpPr>
        <p:sp>
          <p:nvSpPr>
            <p:cNvPr id="1093" name="Editable text: Phenylalanine metabolism"/>
            <p:cNvSpPr/>
            <p:nvPr/>
          </p:nvSpPr>
          <p:spPr>
            <a:xfrm>
              <a:off x="471479" y="66285"/>
              <a:ext cx="568844" cy="6356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Phenylalanine metabolism</a:t>
              </a:r>
            </a:p>
          </p:txBody>
        </p:sp>
        <p:sp>
          <p:nvSpPr>
            <p:cNvPr id="1094" name="Editable text: Biosynthesis of amino acids"/>
            <p:cNvSpPr/>
            <p:nvPr/>
          </p:nvSpPr>
          <p:spPr>
            <a:xfrm>
              <a:off x="438888" y="194917"/>
              <a:ext cx="600653" cy="639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Biosynthesis of amino acids</a:t>
              </a:r>
            </a:p>
          </p:txBody>
        </p:sp>
        <p:sp>
          <p:nvSpPr>
            <p:cNvPr id="1095" name="Editable text: Citrate cycle (TCA cycle)"/>
            <p:cNvSpPr/>
            <p:nvPr/>
          </p:nvSpPr>
          <p:spPr>
            <a:xfrm>
              <a:off x="501897" y="323335"/>
              <a:ext cx="534080" cy="6405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1096" name="Editable text: Cysteine and methionine metabolism"/>
            <p:cNvSpPr/>
            <p:nvPr/>
          </p:nvSpPr>
          <p:spPr>
            <a:xfrm>
              <a:off x="241171" y="453449"/>
              <a:ext cx="794636" cy="642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Cysteine and methionine metabolism</a:t>
              </a:r>
            </a:p>
          </p:txBody>
        </p:sp>
        <p:sp>
          <p:nvSpPr>
            <p:cNvPr id="1097" name="Editable text: Arginine biosynthesis"/>
            <p:cNvSpPr/>
            <p:nvPr/>
          </p:nvSpPr>
          <p:spPr>
            <a:xfrm>
              <a:off x="573834" y="581162"/>
              <a:ext cx="462550" cy="642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biosynthesis</a:t>
              </a:r>
            </a:p>
          </p:txBody>
        </p:sp>
        <p:sp>
          <p:nvSpPr>
            <p:cNvPr id="1098" name="Editable text: Glucagon signaling pathway"/>
            <p:cNvSpPr/>
            <p:nvPr/>
          </p:nvSpPr>
          <p:spPr>
            <a:xfrm>
              <a:off x="430197" y="709844"/>
              <a:ext cx="608733" cy="6400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Glucagon signaling pathway</a:t>
              </a:r>
            </a:p>
          </p:txBody>
        </p:sp>
        <p:sp>
          <p:nvSpPr>
            <p:cNvPr id="1099" name="Editable text: Tryptophan metabolism"/>
            <p:cNvSpPr/>
            <p:nvPr/>
          </p:nvSpPr>
          <p:spPr>
            <a:xfrm>
              <a:off x="530142" y="837588"/>
              <a:ext cx="508551" cy="636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Tryptophan metabolism</a:t>
              </a:r>
            </a:p>
          </p:txBody>
        </p:sp>
        <p:sp>
          <p:nvSpPr>
            <p:cNvPr id="1100" name="Editable text: Alanine, aspartate and glutamate metabolism"/>
            <p:cNvSpPr/>
            <p:nvPr/>
          </p:nvSpPr>
          <p:spPr>
            <a:xfrm>
              <a:off x="63247" y="965714"/>
              <a:ext cx="970015" cy="644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Alanine, aspartate and glutamate metabolism</a:t>
              </a:r>
            </a:p>
          </p:txBody>
        </p:sp>
        <p:sp>
          <p:nvSpPr>
            <p:cNvPr id="1101" name="Editable text: Antineoplastics – alkylating agents"/>
            <p:cNvSpPr/>
            <p:nvPr/>
          </p:nvSpPr>
          <p:spPr>
            <a:xfrm>
              <a:off x="293555" y="1093902"/>
              <a:ext cx="741540" cy="64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Antineoplastics – alkylating agents</a:t>
              </a:r>
            </a:p>
          </p:txBody>
        </p:sp>
        <p:sp>
          <p:nvSpPr>
            <p:cNvPr id="1102" name="Editable text: NOD-like receptor signaling pathway"/>
            <p:cNvSpPr/>
            <p:nvPr/>
          </p:nvSpPr>
          <p:spPr>
            <a:xfrm>
              <a:off x="243344" y="1222537"/>
              <a:ext cx="790868" cy="648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1103" name="Editable text: Ascorbate and aldarate metabolism"/>
            <p:cNvSpPr/>
            <p:nvPr/>
          </p:nvSpPr>
          <p:spPr>
            <a:xfrm>
              <a:off x="273999" y="1350311"/>
              <a:ext cx="762758" cy="641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Ascorbate and aldarate metabolism</a:t>
              </a:r>
            </a:p>
          </p:txBody>
        </p:sp>
        <p:sp>
          <p:nvSpPr>
            <p:cNvPr id="1104" name="Editable text: Glyoxylate and dicarboxylate metabolism"/>
            <p:cNvSpPr/>
            <p:nvPr/>
          </p:nvSpPr>
          <p:spPr>
            <a:xfrm>
              <a:off x="160781" y="1478993"/>
              <a:ext cx="879610" cy="639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Glyoxylate and dicarboxylate metabolism</a:t>
              </a:r>
            </a:p>
          </p:txBody>
        </p:sp>
        <p:sp>
          <p:nvSpPr>
            <p:cNvPr id="1105" name="Editable text: 2"/>
            <p:cNvSpPr/>
            <p:nvPr/>
          </p:nvSpPr>
          <p:spPr>
            <a:xfrm>
              <a:off x="2085805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06" name="Editable text: 0"/>
            <p:cNvSpPr/>
            <p:nvPr/>
          </p:nvSpPr>
          <p:spPr>
            <a:xfrm>
              <a:off x="1099393" y="1597949"/>
              <a:ext cx="37445" cy="64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07" name="Editable text: 1"/>
            <p:cNvSpPr/>
            <p:nvPr/>
          </p:nvSpPr>
          <p:spPr>
            <a:xfrm>
              <a:off x="1594772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08" name="Editable text: −Log10(p-value)"/>
            <p:cNvSpPr/>
            <p:nvPr/>
          </p:nvSpPr>
          <p:spPr>
            <a:xfrm>
              <a:off x="1616499" y="1647907"/>
              <a:ext cx="414988" cy="7463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3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0642711-FDCD-84E9-A0BB-F8F72738A823}"/>
              </a:ext>
            </a:extLst>
          </p:cNvPr>
          <p:cNvSpPr txBox="1"/>
          <p:nvPr/>
        </p:nvSpPr>
        <p:spPr>
          <a:xfrm>
            <a:off x="114298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511AB1C-14C4-CD01-7B02-1F86C49A62F3}"/>
              </a:ext>
            </a:extLst>
          </p:cNvPr>
          <p:cNvSpPr txBox="1"/>
          <p:nvPr/>
        </p:nvSpPr>
        <p:spPr>
          <a:xfrm>
            <a:off x="267323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AE729E8-B280-35A1-6FF6-5B0D29A8BF5D}"/>
              </a:ext>
            </a:extLst>
          </p:cNvPr>
          <p:cNvSpPr txBox="1"/>
          <p:nvPr/>
        </p:nvSpPr>
        <p:spPr>
          <a:xfrm>
            <a:off x="491584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7367AB07-A100-2B5A-588A-C173534BC3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4472" y="4675543"/>
            <a:ext cx="1998016" cy="1842730"/>
          </a:xfrm>
          <a:prstGeom prst="rect">
            <a:avLst/>
          </a:prstGeom>
        </p:spPr>
      </p:pic>
      <p:grpSp>
        <p:nvGrpSpPr>
          <p:cNvPr id="1109" name="Editable text overlays for image9.png"/>
          <p:cNvGrpSpPr/>
          <p:nvPr/>
        </p:nvGrpSpPr>
        <p:grpSpPr>
          <a:xfrm>
            <a:off x="2874472" y="4675543"/>
            <a:ext cx="1998016" cy="1842730"/>
            <a:chOff x="0" y="0"/>
            <a:chExt cx="1998016" cy="1842730"/>
          </a:xfrm>
        </p:grpSpPr>
        <p:sp>
          <p:nvSpPr>
            <p:cNvPr id="1110" name="Editable text: Arginine and proline metabolism"/>
            <p:cNvSpPr/>
            <p:nvPr/>
          </p:nvSpPr>
          <p:spPr>
            <a:xfrm>
              <a:off x="994027" y="50714"/>
              <a:ext cx="575664" cy="528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1111" name="Editable text: Serotonin receptor agonists/antagonists"/>
            <p:cNvSpPr/>
            <p:nvPr/>
          </p:nvSpPr>
          <p:spPr>
            <a:xfrm>
              <a:off x="112151" y="315345"/>
              <a:ext cx="698788" cy="520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1112" name="Editable text: cAMP signaling pathway"/>
            <p:cNvSpPr/>
            <p:nvPr/>
          </p:nvSpPr>
          <p:spPr>
            <a:xfrm>
              <a:off x="484838" y="394061"/>
              <a:ext cx="440328" cy="529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1113" name="Editable text: Gap junction"/>
            <p:cNvSpPr/>
            <p:nvPr/>
          </p:nvSpPr>
          <p:spPr>
            <a:xfrm>
              <a:off x="181167" y="499784"/>
              <a:ext cx="224302" cy="518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1114" name="Editable text: number of genes"/>
            <p:cNvSpPr/>
            <p:nvPr/>
          </p:nvSpPr>
          <p:spPr>
            <a:xfrm>
              <a:off x="1766812" y="578554"/>
              <a:ext cx="217401" cy="373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1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number of genes</a:t>
              </a:r>
            </a:p>
          </p:txBody>
        </p:sp>
        <p:sp>
          <p:nvSpPr>
            <p:cNvPr id="1115" name="Editable text: Thermogenesis"/>
            <p:cNvSpPr/>
            <p:nvPr/>
          </p:nvSpPr>
          <p:spPr>
            <a:xfrm>
              <a:off x="1278523" y="597644"/>
              <a:ext cx="282184" cy="5307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1116" name="Editable text: 1"/>
            <p:cNvSpPr/>
            <p:nvPr/>
          </p:nvSpPr>
          <p:spPr>
            <a:xfrm>
              <a:off x="1844455" y="629893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8" b="0" dirty="0">
                  <a:solidFill>
                    <a:srgbClr val="0f0f0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17" name="Editable text: Synaptic vesicle cycle"/>
            <p:cNvSpPr/>
            <p:nvPr/>
          </p:nvSpPr>
          <p:spPr>
            <a:xfrm>
              <a:off x="279515" y="634301"/>
              <a:ext cx="394659" cy="5269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1118" name="Editable text: 2"/>
            <p:cNvSpPr/>
            <p:nvPr/>
          </p:nvSpPr>
          <p:spPr>
            <a:xfrm>
              <a:off x="1844455" y="678204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19" name="Editable text: 3"/>
            <p:cNvSpPr/>
            <p:nvPr/>
          </p:nvSpPr>
          <p:spPr>
            <a:xfrm>
              <a:off x="1844455" y="726561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20202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120" name="Editable text: 4"/>
            <p:cNvSpPr/>
            <p:nvPr/>
          </p:nvSpPr>
          <p:spPr>
            <a:xfrm>
              <a:off x="1844455" y="780280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21" name="Editable text: 5"/>
            <p:cNvSpPr/>
            <p:nvPr/>
          </p:nvSpPr>
          <p:spPr>
            <a:xfrm>
              <a:off x="1844455" y="838678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122" name="Editable text: 6"/>
            <p:cNvSpPr/>
            <p:nvPr/>
          </p:nvSpPr>
          <p:spPr>
            <a:xfrm>
              <a:off x="1844455" y="897376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123" name="Editable text: Bile secretion"/>
            <p:cNvSpPr/>
            <p:nvPr/>
          </p:nvSpPr>
          <p:spPr>
            <a:xfrm>
              <a:off x="810939" y="894507"/>
              <a:ext cx="239831" cy="5197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124" name="Editable text: pvalue"/>
            <p:cNvSpPr/>
            <p:nvPr/>
          </p:nvSpPr>
          <p:spPr>
            <a:xfrm>
              <a:off x="1766812" y="1004536"/>
              <a:ext cx="90044" cy="363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pvalue</a:t>
              </a:r>
            </a:p>
          </p:txBody>
        </p:sp>
        <p:sp>
          <p:nvSpPr>
            <p:cNvPr id="1125" name="Editable text: Pentose and glucuronate interconversions"/>
            <p:cNvSpPr/>
            <p:nvPr/>
          </p:nvSpPr>
          <p:spPr>
            <a:xfrm>
              <a:off x="898935" y="997976"/>
              <a:ext cx="750065" cy="5262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1126" name="Editable text: Steroid hormone biosynthesis"/>
            <p:cNvSpPr/>
            <p:nvPr/>
          </p:nvSpPr>
          <p:spPr>
            <a:xfrm>
              <a:off x="94897" y="1043250"/>
              <a:ext cx="524522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1127" name="Editable text: Primary bile acid biosynthesis"/>
            <p:cNvSpPr/>
            <p:nvPr/>
          </p:nvSpPr>
          <p:spPr>
            <a:xfrm>
              <a:off x="940344" y="1284371"/>
              <a:ext cx="531424" cy="5288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128" name="Editable text: Secondary bile acid biosynthesis"/>
            <p:cNvSpPr/>
            <p:nvPr/>
          </p:nvSpPr>
          <p:spPr>
            <a:xfrm>
              <a:off x="688436" y="1341745"/>
              <a:ext cx="578010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129" name="Editable text: Cholesterol metabolism"/>
            <p:cNvSpPr/>
            <p:nvPr/>
          </p:nvSpPr>
          <p:spPr>
            <a:xfrm>
              <a:off x="986930" y="1474561"/>
              <a:ext cx="423344" cy="5282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1130" name="Editable text: Folate transport and metabolism"/>
            <p:cNvSpPr/>
            <p:nvPr/>
          </p:nvSpPr>
          <p:spPr>
            <a:xfrm>
              <a:off x="205323" y="1579365"/>
              <a:ext cx="595264" cy="5345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1131" name="Editable text: Choline metabolism in cancer"/>
            <p:cNvSpPr/>
            <p:nvPr/>
          </p:nvSpPr>
          <p:spPr>
            <a:xfrm>
              <a:off x="220852" y="1723018"/>
              <a:ext cx="529267" cy="5284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1132" name="Editable text: 0.04"/>
            <p:cNvSpPr/>
            <p:nvPr/>
          </p:nvSpPr>
          <p:spPr>
            <a:xfrm>
              <a:off x="1828927" y="1069916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0.04</a:t>
              </a:r>
            </a:p>
          </p:txBody>
        </p:sp>
        <p:sp>
          <p:nvSpPr>
            <p:cNvPr id="1133" name="Editable text: 0.03"/>
            <p:cNvSpPr/>
            <p:nvPr/>
          </p:nvSpPr>
          <p:spPr>
            <a:xfrm>
              <a:off x="1828927" y="1121678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0.03</a:t>
              </a:r>
            </a:p>
          </p:txBody>
        </p:sp>
        <p:sp>
          <p:nvSpPr>
            <p:cNvPr id="1134" name="Editable text: 0.02"/>
            <p:cNvSpPr/>
            <p:nvPr/>
          </p:nvSpPr>
          <p:spPr>
            <a:xfrm>
              <a:off x="1828927" y="1171715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0.02</a:t>
              </a:r>
            </a:p>
          </p:txBody>
        </p:sp>
        <p:sp>
          <p:nvSpPr>
            <p:cNvPr id="1135" name="Editable text: 0.01"/>
            <p:cNvSpPr/>
            <p:nvPr/>
          </p:nvSpPr>
          <p:spPr>
            <a:xfrm>
              <a:off x="1828927" y="1223477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</a:t>
              </a: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671AE27-B4E4-1FB5-12E8-D811FEDA90A2}"/>
              </a:ext>
            </a:extLst>
          </p:cNvPr>
          <p:cNvSpPr txBox="1"/>
          <p:nvPr/>
        </p:nvSpPr>
        <p:spPr>
          <a:xfrm>
            <a:off x="2673235" y="457869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16E3B4D-22BA-FC4A-A6B1-0AB9A27B446C}"/>
              </a:ext>
            </a:extLst>
          </p:cNvPr>
          <p:cNvSpPr txBox="1"/>
          <p:nvPr/>
        </p:nvSpPr>
        <p:spPr>
          <a:xfrm>
            <a:off x="4810847" y="4579334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C3DD3F81-20BF-D265-D6A1-8A5DCC125E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6863" y="4692969"/>
            <a:ext cx="1998016" cy="1985153"/>
          </a:xfrm>
          <a:prstGeom prst="rect">
            <a:avLst/>
          </a:prstGeom>
        </p:spPr>
      </p:pic>
      <p:grpSp>
        <p:nvGrpSpPr>
          <p:cNvPr id="1136" name="Editable text overlays for image10.png"/>
          <p:cNvGrpSpPr/>
          <p:nvPr/>
        </p:nvGrpSpPr>
        <p:grpSpPr>
          <a:xfrm>
            <a:off x="5126863" y="4692969"/>
            <a:ext cx="1998016" cy="1985153"/>
            <a:chOff x="0" y="0"/>
            <a:chExt cx="1998016" cy="1985153"/>
          </a:xfrm>
        </p:grpSpPr>
        <p:sp>
          <p:nvSpPr>
            <p:cNvPr id="1137" name="Editable text: Bile secretion"/>
            <p:cNvSpPr/>
            <p:nvPr/>
          </p:nvSpPr>
          <p:spPr>
            <a:xfrm>
              <a:off x="673151" y="42442"/>
              <a:ext cx="257255" cy="5542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138" name="Editable text: Primary bile acid biosynthesis"/>
            <p:cNvSpPr/>
            <p:nvPr/>
          </p:nvSpPr>
          <p:spPr>
            <a:xfrm>
              <a:off x="673151" y="102397"/>
              <a:ext cx="559530" cy="5625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139" name="Editable text: Secondary bile acid biosynthesis"/>
            <p:cNvSpPr/>
            <p:nvPr/>
          </p:nvSpPr>
          <p:spPr>
            <a:xfrm>
              <a:off x="673151" y="162841"/>
              <a:ext cx="615269" cy="5624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140" name="Editable text: -0.25"/>
            <p:cNvSpPr/>
            <p:nvPr/>
          </p:nvSpPr>
          <p:spPr>
            <a:xfrm>
              <a:off x="115765" y="36611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-0.25</a:t>
              </a:r>
            </a:p>
          </p:txBody>
        </p:sp>
        <p:sp>
          <p:nvSpPr>
            <p:cNvPr id="1141" name="Editable text: -0.50"/>
            <p:cNvSpPr/>
            <p:nvPr/>
          </p:nvSpPr>
          <p:spPr>
            <a:xfrm>
              <a:off x="115765" y="63194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-0.50</a:t>
              </a:r>
            </a:p>
          </p:txBody>
        </p:sp>
        <p:sp>
          <p:nvSpPr>
            <p:cNvPr id="1142" name="Editable text: -0.75"/>
            <p:cNvSpPr/>
            <p:nvPr/>
          </p:nvSpPr>
          <p:spPr>
            <a:xfrm>
              <a:off x="115765" y="899920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-0.75</a:t>
              </a:r>
            </a:p>
          </p:txBody>
        </p:sp>
        <p:sp>
          <p:nvSpPr>
            <p:cNvPr id="1143" name="Editable text: 4"/>
            <p:cNvSpPr/>
            <p:nvPr/>
          </p:nvSpPr>
          <p:spPr>
            <a:xfrm>
              <a:off x="175791" y="1493685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44" name="Editable text: 2"/>
            <p:cNvSpPr/>
            <p:nvPr/>
          </p:nvSpPr>
          <p:spPr>
            <a:xfrm>
              <a:off x="175791" y="1579436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45" name="Editable text: 0"/>
            <p:cNvSpPr/>
            <p:nvPr/>
          </p:nvSpPr>
          <p:spPr>
            <a:xfrm>
              <a:off x="173647" y="1665255"/>
              <a:ext cx="33363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46" name="Editable text: -2"/>
            <p:cNvSpPr/>
            <p:nvPr/>
          </p:nvSpPr>
          <p:spPr>
            <a:xfrm>
              <a:off x="152209" y="1750940"/>
              <a:ext cx="51451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147" name="Editable text: 50"/>
            <p:cNvSpPr/>
            <p:nvPr/>
          </p:nvSpPr>
          <p:spPr>
            <a:xfrm>
              <a:off x="540236" y="1856052"/>
              <a:ext cx="56007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1148" name="Editable text: 150"/>
            <p:cNvSpPr/>
            <p:nvPr/>
          </p:nvSpPr>
          <p:spPr>
            <a:xfrm>
              <a:off x="1226250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1149" name="Editable text: 200"/>
            <p:cNvSpPr/>
            <p:nvPr/>
          </p:nvSpPr>
          <p:spPr>
            <a:xfrm>
              <a:off x="1573545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150" name="Editable text: 100"/>
            <p:cNvSpPr/>
            <p:nvPr/>
          </p:nvSpPr>
          <p:spPr>
            <a:xfrm>
              <a:off x="878956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151" name="Editable text: 250"/>
            <p:cNvSpPr/>
            <p:nvPr/>
          </p:nvSpPr>
          <p:spPr>
            <a:xfrm>
              <a:off x="1920839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1152" name="Editable text: Rank in Ordered Dataset"/>
            <p:cNvSpPr/>
            <p:nvPr/>
          </p:nvSpPr>
          <p:spPr>
            <a:xfrm>
              <a:off x="806067" y="1904666"/>
              <a:ext cx="585256" cy="7012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1153" name="Editable text: Running Enrichment Score"/>
            <p:cNvSpPr/>
            <p:nvPr/>
          </p:nvSpPr>
          <p:spPr>
            <a:xfrm rot="16200000">
              <a:off x="-260471" y="527750"/>
              <a:ext cx="630275" cy="699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1154" name="Editable text: Ranked List Metric"/>
            <p:cNvSpPr/>
            <p:nvPr/>
          </p:nvSpPr>
          <p:spPr>
            <a:xfrm rot="16200000">
              <a:off x="-171219" y="1622549"/>
              <a:ext cx="436765" cy="6920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4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1155" name="Editable text: 0.00"/>
            <p:cNvSpPr/>
            <p:nvPr/>
          </p:nvSpPr>
          <p:spPr>
            <a:xfrm>
              <a:off x="115765" y="98141"/>
              <a:ext cx="900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00000"/>
                </a:lnSpc>
              </a:pPr>
              <a:r>
                <a:rPr lang="en-US" sz="32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603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Arial" panose="020F03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 panose="020F05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2857</TotalTime>
  <Words>26</Words>
  <Application>Microsoft Macintosh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鑫业 张</dc:creator>
  <cp:lastModifiedBy>鑫业 张</cp:lastModifiedBy>
  <cp:revision>34</cp:revision>
  <dcterms:created xsi:type="dcterms:W3CDTF">2025-12-11T01:24:21Z</dcterms:created>
  <dcterms:modified xsi:type="dcterms:W3CDTF">2026-10-20T13:13:35Z</dcterms:modified>
</cp:coreProperties>
</file>